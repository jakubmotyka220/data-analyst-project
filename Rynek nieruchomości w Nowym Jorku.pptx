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10287000" cx="18288000"/>
  <p:notesSz cx="6858000" cy="9144000"/>
  <p:embeddedFontLst>
    <p:embeddedFont>
      <p:font typeface="Inter"/>
      <p:bold r:id="rId14"/>
      <p:boldItalic r:id="rId15"/>
    </p:embeddedFont>
    <p:embeddedFont>
      <p:font typeface="Montserrat"/>
      <p:regular r:id="rId16"/>
      <p:bold r:id="rId17"/>
      <p:italic r:id="rId18"/>
      <p:boldItalic r:id="rId19"/>
    </p:embeddedFont>
    <p:embeddedFont>
      <p:font typeface="Open Sans"/>
      <p:bold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OpenSans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Inter-boldItalic.fntdata"/><Relationship Id="rId14" Type="http://schemas.openxmlformats.org/officeDocument/2006/relationships/font" Target="fonts/Inter-bold.fntdata"/><Relationship Id="rId17" Type="http://schemas.openxmlformats.org/officeDocument/2006/relationships/font" Target="fonts/Montserrat-bold.fntdata"/><Relationship Id="rId16" Type="http://schemas.openxmlformats.org/officeDocument/2006/relationships/font" Target="fonts/Montserrat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Montserrat-boldItalic.fntdata"/><Relationship Id="rId6" Type="http://schemas.openxmlformats.org/officeDocument/2006/relationships/slide" Target="slides/slide1.xml"/><Relationship Id="rId18" Type="http://schemas.openxmlformats.org/officeDocument/2006/relationships/font" Target="fonts/Montserrat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public.tableau.com/app/profile/jakub.motyka/viz/AnalizarynkuAirbnbwNowymJorku/Dashboard1?publish=yes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A38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8991600" y="1562100"/>
            <a:ext cx="8629650" cy="8724900"/>
          </a:xfrm>
          <a:custGeom>
            <a:rect b="b" l="l" r="r" t="t"/>
            <a:pathLst>
              <a:path extrusionOk="0" h="2509537" w="2482140">
                <a:moveTo>
                  <a:pt x="0" y="0"/>
                </a:moveTo>
                <a:lnTo>
                  <a:pt x="2482140" y="0"/>
                </a:lnTo>
                <a:lnTo>
                  <a:pt x="2482140" y="2509537"/>
                </a:lnTo>
                <a:lnTo>
                  <a:pt x="0" y="2509537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79" l="0" r="0" t="-79"/>
            </a:stretch>
          </a:blipFill>
          <a:ln>
            <a:noFill/>
          </a:ln>
        </p:spPr>
      </p:sp>
      <p:sp>
        <p:nvSpPr>
          <p:cNvPr id="85" name="Google Shape;85;p13"/>
          <p:cNvSpPr txBox="1"/>
          <p:nvPr/>
        </p:nvSpPr>
        <p:spPr>
          <a:xfrm>
            <a:off x="666750" y="1600200"/>
            <a:ext cx="6886500" cy="39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6000" u="none" cap="none" strike="noStrike">
                <a:solidFill>
                  <a:srgbClr val="F1F4F8"/>
                </a:solidFill>
                <a:latin typeface="Georgia"/>
                <a:ea typeface="Georgia"/>
                <a:cs typeface="Georgia"/>
                <a:sym typeface="Georgia"/>
              </a:rPr>
              <a:t>Optymalizacja strategii cenowej Airbnb w Nowym Jorku</a:t>
            </a:r>
            <a:endParaRPr sz="60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666750" y="8900309"/>
            <a:ext cx="5448300" cy="737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1F4F8"/>
                </a:solidFill>
                <a:latin typeface="Inter"/>
                <a:ea typeface="Inter"/>
                <a:cs typeface="Inter"/>
                <a:sym typeface="Inter"/>
              </a:rPr>
              <a:t>Przygotował: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1F4F8"/>
                </a:solidFill>
                <a:latin typeface="Inter"/>
                <a:ea typeface="Inter"/>
                <a:cs typeface="Inter"/>
                <a:sym typeface="Inter"/>
              </a:rPr>
              <a:t>Jakub Motyka</a:t>
            </a:r>
            <a:endParaRPr/>
          </a:p>
        </p:txBody>
      </p:sp>
      <p:cxnSp>
        <p:nvCxnSpPr>
          <p:cNvPr id="87" name="Google Shape;87;p13"/>
          <p:cNvCxnSpPr/>
          <p:nvPr/>
        </p:nvCxnSpPr>
        <p:spPr>
          <a:xfrm>
            <a:off x="666750" y="1263650"/>
            <a:ext cx="16954500" cy="0"/>
          </a:xfrm>
          <a:prstGeom prst="straightConnector1">
            <a:avLst/>
          </a:prstGeom>
          <a:noFill/>
          <a:ln cap="flat" cmpd="sng" w="9525">
            <a:solidFill>
              <a:srgbClr val="F1F4F8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84B63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2" name="Google Shape;92;p14"/>
          <p:cNvCxnSpPr/>
          <p:nvPr/>
        </p:nvCxnSpPr>
        <p:spPr>
          <a:xfrm>
            <a:off x="1028700" y="9634537"/>
            <a:ext cx="16230600" cy="0"/>
          </a:xfrm>
          <a:prstGeom prst="straightConnector1">
            <a:avLst/>
          </a:prstGeom>
          <a:noFill/>
          <a:ln cap="flat" cmpd="sng" w="9525">
            <a:solidFill>
              <a:srgbClr val="F1F4F8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93" name="Google Shape;93;p14"/>
          <p:cNvGrpSpPr/>
          <p:nvPr/>
        </p:nvGrpSpPr>
        <p:grpSpPr>
          <a:xfrm>
            <a:off x="1028700" y="2532645"/>
            <a:ext cx="6745834" cy="3266926"/>
            <a:chOff x="0" y="-47625"/>
            <a:chExt cx="1776681" cy="860425"/>
          </a:xfrm>
        </p:grpSpPr>
        <p:sp>
          <p:nvSpPr>
            <p:cNvPr id="94" name="Google Shape;94;p14"/>
            <p:cNvSpPr/>
            <p:nvPr/>
          </p:nvSpPr>
          <p:spPr>
            <a:xfrm>
              <a:off x="0" y="0"/>
              <a:ext cx="1776681" cy="812800"/>
            </a:xfrm>
            <a:custGeom>
              <a:rect b="b" l="l" r="r" t="t"/>
              <a:pathLst>
                <a:path extrusionOk="0" h="812800" w="1776681">
                  <a:moveTo>
                    <a:pt x="58531" y="0"/>
                  </a:moveTo>
                  <a:lnTo>
                    <a:pt x="1718150" y="0"/>
                  </a:lnTo>
                  <a:cubicBezTo>
                    <a:pt x="1750476" y="0"/>
                    <a:pt x="1776681" y="26205"/>
                    <a:pt x="1776681" y="58531"/>
                  </a:cubicBezTo>
                  <a:lnTo>
                    <a:pt x="1776681" y="754269"/>
                  </a:lnTo>
                  <a:cubicBezTo>
                    <a:pt x="1776681" y="786595"/>
                    <a:pt x="1750476" y="812800"/>
                    <a:pt x="1718150" y="812800"/>
                  </a:cubicBezTo>
                  <a:lnTo>
                    <a:pt x="58531" y="812800"/>
                  </a:lnTo>
                  <a:cubicBezTo>
                    <a:pt x="26205" y="812800"/>
                    <a:pt x="0" y="786595"/>
                    <a:pt x="0" y="754269"/>
                  </a:cubicBezTo>
                  <a:lnTo>
                    <a:pt x="0" y="58531"/>
                  </a:lnTo>
                  <a:cubicBezTo>
                    <a:pt x="0" y="26205"/>
                    <a:pt x="26205" y="0"/>
                    <a:pt x="585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14"/>
            <p:cNvSpPr txBox="1"/>
            <p:nvPr/>
          </p:nvSpPr>
          <p:spPr>
            <a:xfrm>
              <a:off x="0" y="-47625"/>
              <a:ext cx="1776681" cy="8604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00" u="none" cap="none" strike="noStrike">
                  <a:solidFill>
                    <a:srgbClr val="284B63"/>
                  </a:solidFill>
                  <a:latin typeface="Inter"/>
                  <a:ea typeface="Inter"/>
                  <a:cs typeface="Inter"/>
                  <a:sym typeface="Inter"/>
                </a:rPr>
                <a:t>Cel:</a:t>
              </a:r>
              <a:r>
                <a:rPr b="0" i="0" lang="en-US" sz="2100" u="none" cap="none" strike="noStrike">
                  <a:solidFill>
                    <a:srgbClr val="284B63"/>
                  </a:solidFill>
                  <a:latin typeface="Inter"/>
                  <a:ea typeface="Inter"/>
                  <a:cs typeface="Inter"/>
                  <a:sym typeface="Inter"/>
                </a:rPr>
                <a:t> Identyfikacja najbardziej dochodowych lokalizacji w Nowym Jorku.</a:t>
              </a:r>
              <a:endParaRPr/>
            </a:p>
          </p:txBody>
        </p:sp>
      </p:grpSp>
      <p:sp>
        <p:nvSpPr>
          <p:cNvPr id="96" name="Google Shape;96;p14"/>
          <p:cNvSpPr txBox="1"/>
          <p:nvPr/>
        </p:nvSpPr>
        <p:spPr>
          <a:xfrm>
            <a:off x="1028700" y="723900"/>
            <a:ext cx="16230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6000" u="none" cap="none" strike="noStrike">
                <a:solidFill>
                  <a:srgbClr val="F1F4F8"/>
                </a:solidFill>
                <a:latin typeface="Georgia"/>
                <a:ea typeface="Georgia"/>
                <a:cs typeface="Georgia"/>
                <a:sym typeface="Georgia"/>
              </a:rPr>
              <a:t>Kluczowe wnioski dla inwestorów</a:t>
            </a:r>
            <a:endParaRPr sz="6000">
              <a:latin typeface="Georgia"/>
              <a:ea typeface="Georgia"/>
              <a:cs typeface="Georgia"/>
              <a:sym typeface="Georgia"/>
            </a:endParaRPr>
          </a:p>
        </p:txBody>
      </p:sp>
      <p:grpSp>
        <p:nvGrpSpPr>
          <p:cNvPr id="97" name="Google Shape;97;p14"/>
          <p:cNvGrpSpPr/>
          <p:nvPr/>
        </p:nvGrpSpPr>
        <p:grpSpPr>
          <a:xfrm>
            <a:off x="10513466" y="2532645"/>
            <a:ext cx="6745834" cy="3266926"/>
            <a:chOff x="0" y="-47625"/>
            <a:chExt cx="1776681" cy="860425"/>
          </a:xfrm>
        </p:grpSpPr>
        <p:sp>
          <p:nvSpPr>
            <p:cNvPr id="98" name="Google Shape;98;p14"/>
            <p:cNvSpPr/>
            <p:nvPr/>
          </p:nvSpPr>
          <p:spPr>
            <a:xfrm>
              <a:off x="0" y="0"/>
              <a:ext cx="1776681" cy="812800"/>
            </a:xfrm>
            <a:custGeom>
              <a:rect b="b" l="l" r="r" t="t"/>
              <a:pathLst>
                <a:path extrusionOk="0" h="812800" w="1776681">
                  <a:moveTo>
                    <a:pt x="58531" y="0"/>
                  </a:moveTo>
                  <a:lnTo>
                    <a:pt x="1718150" y="0"/>
                  </a:lnTo>
                  <a:cubicBezTo>
                    <a:pt x="1750476" y="0"/>
                    <a:pt x="1776681" y="26205"/>
                    <a:pt x="1776681" y="58531"/>
                  </a:cubicBezTo>
                  <a:lnTo>
                    <a:pt x="1776681" y="754269"/>
                  </a:lnTo>
                  <a:cubicBezTo>
                    <a:pt x="1776681" y="786595"/>
                    <a:pt x="1750476" y="812800"/>
                    <a:pt x="1718150" y="812800"/>
                  </a:cubicBezTo>
                  <a:lnTo>
                    <a:pt x="58531" y="812800"/>
                  </a:lnTo>
                  <a:cubicBezTo>
                    <a:pt x="26205" y="812800"/>
                    <a:pt x="0" y="786595"/>
                    <a:pt x="0" y="754269"/>
                  </a:cubicBezTo>
                  <a:lnTo>
                    <a:pt x="0" y="58531"/>
                  </a:lnTo>
                  <a:cubicBezTo>
                    <a:pt x="0" y="26205"/>
                    <a:pt x="26205" y="0"/>
                    <a:pt x="585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14"/>
            <p:cNvSpPr txBox="1"/>
            <p:nvPr/>
          </p:nvSpPr>
          <p:spPr>
            <a:xfrm>
              <a:off x="0" y="-47625"/>
              <a:ext cx="1776681" cy="8604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00" u="none" cap="none" strike="noStrike">
                  <a:solidFill>
                    <a:srgbClr val="284B63"/>
                  </a:solidFill>
                  <a:latin typeface="Inter"/>
                  <a:ea typeface="Inter"/>
                  <a:cs typeface="Inter"/>
                  <a:sym typeface="Inter"/>
                </a:rPr>
                <a:t>Główny wniosek:</a:t>
              </a:r>
              <a:r>
                <a:rPr b="0" i="0" lang="en-US" sz="2100" u="none" cap="none" strike="noStrike">
                  <a:solidFill>
                    <a:srgbClr val="284B63"/>
                  </a:solidFill>
                  <a:latin typeface="Inter"/>
                  <a:ea typeface="Inter"/>
                  <a:cs typeface="Inter"/>
                  <a:sym typeface="Inter"/>
                </a:rPr>
                <a:t> Maksymalizacja zysku wynika z optymalnego obłożenia, a nie z najwyższej ceny za noc.</a:t>
              </a:r>
              <a:endParaRPr/>
            </a:p>
          </p:txBody>
        </p:sp>
      </p:grpSp>
      <p:grpSp>
        <p:nvGrpSpPr>
          <p:cNvPr id="100" name="Google Shape;100;p14"/>
          <p:cNvGrpSpPr/>
          <p:nvPr/>
        </p:nvGrpSpPr>
        <p:grpSpPr>
          <a:xfrm>
            <a:off x="10513466" y="5991374"/>
            <a:ext cx="6745834" cy="3266926"/>
            <a:chOff x="0" y="-47625"/>
            <a:chExt cx="1776681" cy="860425"/>
          </a:xfrm>
        </p:grpSpPr>
        <p:sp>
          <p:nvSpPr>
            <p:cNvPr id="101" name="Google Shape;101;p14"/>
            <p:cNvSpPr/>
            <p:nvPr/>
          </p:nvSpPr>
          <p:spPr>
            <a:xfrm>
              <a:off x="0" y="0"/>
              <a:ext cx="1776681" cy="812800"/>
            </a:xfrm>
            <a:custGeom>
              <a:rect b="b" l="l" r="r" t="t"/>
              <a:pathLst>
                <a:path extrusionOk="0" h="812800" w="1776681">
                  <a:moveTo>
                    <a:pt x="58531" y="0"/>
                  </a:moveTo>
                  <a:lnTo>
                    <a:pt x="1718150" y="0"/>
                  </a:lnTo>
                  <a:cubicBezTo>
                    <a:pt x="1750476" y="0"/>
                    <a:pt x="1776681" y="26205"/>
                    <a:pt x="1776681" y="58531"/>
                  </a:cubicBezTo>
                  <a:lnTo>
                    <a:pt x="1776681" y="754269"/>
                  </a:lnTo>
                  <a:cubicBezTo>
                    <a:pt x="1776681" y="786595"/>
                    <a:pt x="1750476" y="812800"/>
                    <a:pt x="1718150" y="812800"/>
                  </a:cubicBezTo>
                  <a:lnTo>
                    <a:pt x="58531" y="812800"/>
                  </a:lnTo>
                  <a:cubicBezTo>
                    <a:pt x="26205" y="812800"/>
                    <a:pt x="0" y="786595"/>
                    <a:pt x="0" y="754269"/>
                  </a:cubicBezTo>
                  <a:lnTo>
                    <a:pt x="0" y="58531"/>
                  </a:lnTo>
                  <a:cubicBezTo>
                    <a:pt x="0" y="26205"/>
                    <a:pt x="26205" y="0"/>
                    <a:pt x="585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4"/>
            <p:cNvSpPr txBox="1"/>
            <p:nvPr/>
          </p:nvSpPr>
          <p:spPr>
            <a:xfrm>
              <a:off x="0" y="-47625"/>
              <a:ext cx="1776681" cy="8604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00" u="none" cap="none" strike="noStrike">
                  <a:solidFill>
                    <a:srgbClr val="284B63"/>
                  </a:solidFill>
                  <a:latin typeface="Inter"/>
                  <a:ea typeface="Inter"/>
                  <a:cs typeface="Inter"/>
                  <a:sym typeface="Inter"/>
                </a:rPr>
                <a:t>Rekomendacja:</a:t>
              </a:r>
              <a:r>
                <a:rPr b="0" i="0" lang="en-US" sz="2100" u="none" cap="none" strike="noStrike">
                  <a:solidFill>
                    <a:srgbClr val="284B63"/>
                  </a:solidFill>
                  <a:latin typeface="Inter"/>
                  <a:ea typeface="Inter"/>
                  <a:cs typeface="Inter"/>
                  <a:sym typeface="Inter"/>
                </a:rPr>
                <a:t> Skupienie się na dzielnicach z najwyższym wskaźnikiem "</a:t>
              </a:r>
              <a:r>
                <a:rPr b="1" i="0" lang="en-US" sz="2100" u="none" cap="none" strike="noStrike">
                  <a:solidFill>
                    <a:srgbClr val="284B63"/>
                  </a:solidFill>
                  <a:latin typeface="Inter"/>
                  <a:ea typeface="Inter"/>
                  <a:cs typeface="Inter"/>
                  <a:sym typeface="Inter"/>
                </a:rPr>
                <a:t>Possibility Profit</a:t>
              </a:r>
              <a:r>
                <a:rPr b="0" i="0" lang="en-US" sz="2100" u="none" cap="none" strike="noStrike">
                  <a:solidFill>
                    <a:srgbClr val="284B63"/>
                  </a:solidFill>
                  <a:latin typeface="Inter"/>
                  <a:ea typeface="Inter"/>
                  <a:cs typeface="Inter"/>
                  <a:sym typeface="Inter"/>
                </a:rPr>
                <a:t>".</a:t>
              </a:r>
              <a:endParaRPr/>
            </a:p>
          </p:txBody>
        </p:sp>
      </p:grpSp>
      <p:grpSp>
        <p:nvGrpSpPr>
          <p:cNvPr id="103" name="Google Shape;103;p14"/>
          <p:cNvGrpSpPr/>
          <p:nvPr/>
        </p:nvGrpSpPr>
        <p:grpSpPr>
          <a:xfrm>
            <a:off x="1028700" y="5991374"/>
            <a:ext cx="6745834" cy="3266926"/>
            <a:chOff x="0" y="-47625"/>
            <a:chExt cx="1776681" cy="860425"/>
          </a:xfrm>
        </p:grpSpPr>
        <p:sp>
          <p:nvSpPr>
            <p:cNvPr id="104" name="Google Shape;104;p14"/>
            <p:cNvSpPr/>
            <p:nvPr/>
          </p:nvSpPr>
          <p:spPr>
            <a:xfrm>
              <a:off x="0" y="0"/>
              <a:ext cx="1776681" cy="812800"/>
            </a:xfrm>
            <a:custGeom>
              <a:rect b="b" l="l" r="r" t="t"/>
              <a:pathLst>
                <a:path extrusionOk="0" h="812800" w="1776681">
                  <a:moveTo>
                    <a:pt x="58531" y="0"/>
                  </a:moveTo>
                  <a:lnTo>
                    <a:pt x="1718150" y="0"/>
                  </a:lnTo>
                  <a:cubicBezTo>
                    <a:pt x="1750476" y="0"/>
                    <a:pt x="1776681" y="26205"/>
                    <a:pt x="1776681" y="58531"/>
                  </a:cubicBezTo>
                  <a:lnTo>
                    <a:pt x="1776681" y="754269"/>
                  </a:lnTo>
                  <a:cubicBezTo>
                    <a:pt x="1776681" y="786595"/>
                    <a:pt x="1750476" y="812800"/>
                    <a:pt x="1718150" y="812800"/>
                  </a:cubicBezTo>
                  <a:lnTo>
                    <a:pt x="58531" y="812800"/>
                  </a:lnTo>
                  <a:cubicBezTo>
                    <a:pt x="26205" y="812800"/>
                    <a:pt x="0" y="786595"/>
                    <a:pt x="0" y="754269"/>
                  </a:cubicBezTo>
                  <a:lnTo>
                    <a:pt x="0" y="58531"/>
                  </a:lnTo>
                  <a:cubicBezTo>
                    <a:pt x="0" y="26205"/>
                    <a:pt x="26205" y="0"/>
                    <a:pt x="585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14"/>
            <p:cNvSpPr txBox="1"/>
            <p:nvPr/>
          </p:nvSpPr>
          <p:spPr>
            <a:xfrm>
              <a:off x="0" y="-47625"/>
              <a:ext cx="1776681" cy="8604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00" u="none" cap="none" strike="noStrike">
                  <a:solidFill>
                    <a:srgbClr val="284B63"/>
                  </a:solidFill>
                  <a:latin typeface="Inter"/>
                  <a:ea typeface="Inter"/>
                  <a:cs typeface="Inter"/>
                  <a:sym typeface="Inter"/>
                </a:rPr>
                <a:t>Metodologia:</a:t>
              </a:r>
              <a:r>
                <a:rPr b="0" i="0" lang="en-US" sz="2100" u="none" cap="none" strike="noStrike">
                  <a:solidFill>
                    <a:srgbClr val="284B63"/>
                  </a:solidFill>
                  <a:latin typeface="Inter"/>
                  <a:ea typeface="Inter"/>
                  <a:cs typeface="Inter"/>
                  <a:sym typeface="Inter"/>
                </a:rPr>
                <a:t> Przetworzenie ponad 100 tys. ofert za pomocą </a:t>
              </a:r>
              <a:r>
                <a:rPr b="1" i="0" lang="en-US" sz="2100" u="none" cap="none" strike="noStrike">
                  <a:solidFill>
                    <a:srgbClr val="284B63"/>
                  </a:solidFill>
                  <a:latin typeface="Inter"/>
                  <a:ea typeface="Inter"/>
                  <a:cs typeface="Inter"/>
                  <a:sym typeface="Inter"/>
                </a:rPr>
                <a:t>Python</a:t>
              </a:r>
              <a:r>
                <a:rPr b="0" i="0" lang="en-US" sz="2100" u="none" cap="none" strike="noStrike">
                  <a:solidFill>
                    <a:srgbClr val="284B63"/>
                  </a:solidFill>
                  <a:latin typeface="Inter"/>
                  <a:ea typeface="Inter"/>
                  <a:cs typeface="Inter"/>
                  <a:sym typeface="Inter"/>
                </a:rPr>
                <a:t> (czyszczenie) i </a:t>
              </a:r>
              <a:r>
                <a:rPr b="1" i="0" lang="en-US" sz="2100" u="none" cap="none" strike="noStrike">
                  <a:solidFill>
                    <a:srgbClr val="284B63"/>
                  </a:solidFill>
                  <a:latin typeface="Inter"/>
                  <a:ea typeface="Inter"/>
                  <a:cs typeface="Inter"/>
                  <a:sym typeface="Inter"/>
                </a:rPr>
                <a:t>Tableau</a:t>
              </a:r>
              <a:r>
                <a:rPr b="0" i="0" lang="en-US" sz="2100" u="none" cap="none" strike="noStrike">
                  <a:solidFill>
                    <a:srgbClr val="284B63"/>
                  </a:solidFill>
                  <a:latin typeface="Inter"/>
                  <a:ea typeface="Inter"/>
                  <a:cs typeface="Inter"/>
                  <a:sym typeface="Inter"/>
                </a:rPr>
                <a:t> (wizualizacja).</a:t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84B6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0" name="Google Shape;110;p15"/>
          <p:cNvCxnSpPr/>
          <p:nvPr/>
        </p:nvCxnSpPr>
        <p:spPr>
          <a:xfrm>
            <a:off x="1028700" y="9633069"/>
            <a:ext cx="16230600" cy="0"/>
          </a:xfrm>
          <a:prstGeom prst="straightConnector1">
            <a:avLst/>
          </a:prstGeom>
          <a:noFill/>
          <a:ln cap="flat" cmpd="sng" w="9525">
            <a:solidFill>
              <a:srgbClr val="F1F4F8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11" name="Google Shape;111;p15"/>
          <p:cNvGrpSpPr/>
          <p:nvPr/>
        </p:nvGrpSpPr>
        <p:grpSpPr>
          <a:xfrm>
            <a:off x="1948710" y="2283808"/>
            <a:ext cx="14390581" cy="1273389"/>
            <a:chOff x="0" y="-47625"/>
            <a:chExt cx="3790112" cy="335378"/>
          </a:xfrm>
        </p:grpSpPr>
        <p:sp>
          <p:nvSpPr>
            <p:cNvPr id="112" name="Google Shape;112;p15"/>
            <p:cNvSpPr/>
            <p:nvPr/>
          </p:nvSpPr>
          <p:spPr>
            <a:xfrm>
              <a:off x="0" y="0"/>
              <a:ext cx="3790112" cy="287753"/>
            </a:xfrm>
            <a:custGeom>
              <a:rect b="b" l="l" r="r" t="t"/>
              <a:pathLst>
                <a:path extrusionOk="0" h="287753" w="3790112">
                  <a:moveTo>
                    <a:pt x="27437" y="0"/>
                  </a:moveTo>
                  <a:lnTo>
                    <a:pt x="3762675" y="0"/>
                  </a:lnTo>
                  <a:cubicBezTo>
                    <a:pt x="3777828" y="0"/>
                    <a:pt x="3790112" y="12284"/>
                    <a:pt x="3790112" y="27437"/>
                  </a:cubicBezTo>
                  <a:lnTo>
                    <a:pt x="3790112" y="260316"/>
                  </a:lnTo>
                  <a:cubicBezTo>
                    <a:pt x="3790112" y="275469"/>
                    <a:pt x="3777828" y="287753"/>
                    <a:pt x="3762675" y="287753"/>
                  </a:cubicBezTo>
                  <a:lnTo>
                    <a:pt x="27437" y="287753"/>
                  </a:lnTo>
                  <a:cubicBezTo>
                    <a:pt x="12284" y="287753"/>
                    <a:pt x="0" y="275469"/>
                    <a:pt x="0" y="260316"/>
                  </a:cubicBezTo>
                  <a:lnTo>
                    <a:pt x="0" y="27437"/>
                  </a:lnTo>
                  <a:cubicBezTo>
                    <a:pt x="0" y="12284"/>
                    <a:pt x="12284" y="0"/>
                    <a:pt x="2743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5"/>
            <p:cNvSpPr txBox="1"/>
            <p:nvPr/>
          </p:nvSpPr>
          <p:spPr>
            <a:xfrm>
              <a:off x="0" y="-47625"/>
              <a:ext cx="3790112" cy="3353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00" u="none" cap="none" strike="noStrike">
                  <a:solidFill>
                    <a:srgbClr val="284B63"/>
                  </a:solidFill>
                  <a:latin typeface="Inter"/>
                  <a:ea typeface="Inter"/>
                  <a:cs typeface="Inter"/>
                  <a:sym typeface="Inter"/>
                </a:rPr>
                <a:t>Etap 1 (Python):</a:t>
              </a:r>
              <a:r>
                <a:rPr b="0" i="0" lang="en-US" sz="2100" u="none" cap="none" strike="noStrike">
                  <a:solidFill>
                    <a:srgbClr val="284B63"/>
                  </a:solidFill>
                  <a:latin typeface="Inter"/>
                  <a:ea typeface="Inter"/>
                  <a:cs typeface="Inter"/>
                  <a:sym typeface="Inter"/>
                </a:rPr>
                <a:t> Oczyszczenie danych z wierszy z brakującymi wartościami oraz nieprawidłowego formatowania.</a:t>
              </a:r>
              <a:endParaRPr/>
            </a:p>
          </p:txBody>
        </p:sp>
      </p:grpSp>
      <p:sp>
        <p:nvSpPr>
          <p:cNvPr id="114" name="Google Shape;114;p15"/>
          <p:cNvSpPr txBox="1"/>
          <p:nvPr/>
        </p:nvSpPr>
        <p:spPr>
          <a:xfrm>
            <a:off x="1028700" y="723900"/>
            <a:ext cx="16230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6000" u="none" cap="none" strike="noStrike">
                <a:solidFill>
                  <a:srgbClr val="F1F4F8"/>
                </a:solidFill>
                <a:latin typeface="Georgia"/>
                <a:ea typeface="Georgia"/>
                <a:cs typeface="Georgia"/>
                <a:sym typeface="Georgia"/>
              </a:rPr>
              <a:t>Metodologia i analiza danych</a:t>
            </a:r>
            <a:endParaRPr sz="6000">
              <a:latin typeface="Georgia"/>
              <a:ea typeface="Georgia"/>
              <a:cs typeface="Georgia"/>
              <a:sym typeface="Georgia"/>
            </a:endParaRPr>
          </a:p>
        </p:txBody>
      </p:sp>
      <p:grpSp>
        <p:nvGrpSpPr>
          <p:cNvPr id="115" name="Google Shape;115;p15"/>
          <p:cNvGrpSpPr/>
          <p:nvPr/>
        </p:nvGrpSpPr>
        <p:grpSpPr>
          <a:xfrm>
            <a:off x="1948710" y="4071696"/>
            <a:ext cx="14390581" cy="1273389"/>
            <a:chOff x="0" y="-47625"/>
            <a:chExt cx="3790112" cy="335378"/>
          </a:xfrm>
        </p:grpSpPr>
        <p:sp>
          <p:nvSpPr>
            <p:cNvPr id="116" name="Google Shape;116;p15"/>
            <p:cNvSpPr/>
            <p:nvPr/>
          </p:nvSpPr>
          <p:spPr>
            <a:xfrm>
              <a:off x="0" y="0"/>
              <a:ext cx="3790112" cy="287753"/>
            </a:xfrm>
            <a:custGeom>
              <a:rect b="b" l="l" r="r" t="t"/>
              <a:pathLst>
                <a:path extrusionOk="0" h="287753" w="3790112">
                  <a:moveTo>
                    <a:pt x="27437" y="0"/>
                  </a:moveTo>
                  <a:lnTo>
                    <a:pt x="3762675" y="0"/>
                  </a:lnTo>
                  <a:cubicBezTo>
                    <a:pt x="3777828" y="0"/>
                    <a:pt x="3790112" y="12284"/>
                    <a:pt x="3790112" y="27437"/>
                  </a:cubicBezTo>
                  <a:lnTo>
                    <a:pt x="3790112" y="260316"/>
                  </a:lnTo>
                  <a:cubicBezTo>
                    <a:pt x="3790112" y="275469"/>
                    <a:pt x="3777828" y="287753"/>
                    <a:pt x="3762675" y="287753"/>
                  </a:cubicBezTo>
                  <a:lnTo>
                    <a:pt x="27437" y="287753"/>
                  </a:lnTo>
                  <a:cubicBezTo>
                    <a:pt x="12284" y="287753"/>
                    <a:pt x="0" y="275469"/>
                    <a:pt x="0" y="260316"/>
                  </a:cubicBezTo>
                  <a:lnTo>
                    <a:pt x="0" y="27437"/>
                  </a:lnTo>
                  <a:cubicBezTo>
                    <a:pt x="0" y="12284"/>
                    <a:pt x="12284" y="0"/>
                    <a:pt x="2743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5"/>
            <p:cNvSpPr txBox="1"/>
            <p:nvPr/>
          </p:nvSpPr>
          <p:spPr>
            <a:xfrm>
              <a:off x="0" y="-47625"/>
              <a:ext cx="3790112" cy="3353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00" u="none" cap="none" strike="noStrike">
                  <a:solidFill>
                    <a:srgbClr val="284B63"/>
                  </a:solidFill>
                  <a:latin typeface="Inter"/>
                  <a:ea typeface="Inter"/>
                  <a:cs typeface="Inter"/>
                  <a:sym typeface="Inter"/>
                </a:rPr>
                <a:t>Etap 2 (Statystyka): </a:t>
              </a:r>
              <a:r>
                <a:rPr b="0" i="0" lang="en-US" sz="2100" u="none" cap="none" strike="noStrike">
                  <a:solidFill>
                    <a:srgbClr val="284B63"/>
                  </a:solidFill>
                  <a:latin typeface="Inter"/>
                  <a:ea typeface="Inter"/>
                  <a:cs typeface="Inter"/>
                  <a:sym typeface="Inter"/>
                </a:rPr>
                <a:t>Weryfikacja korelacji. Stwierdzono, że cena jest zmienną złożoną (brak pojedynczej miary, która się wyróżnia).</a:t>
              </a:r>
              <a:endParaRPr/>
            </a:p>
          </p:txBody>
        </p:sp>
      </p:grpSp>
      <p:grpSp>
        <p:nvGrpSpPr>
          <p:cNvPr id="118" name="Google Shape;118;p15"/>
          <p:cNvGrpSpPr/>
          <p:nvPr/>
        </p:nvGrpSpPr>
        <p:grpSpPr>
          <a:xfrm>
            <a:off x="1948710" y="5859584"/>
            <a:ext cx="14390581" cy="1273389"/>
            <a:chOff x="0" y="-47625"/>
            <a:chExt cx="3790112" cy="335378"/>
          </a:xfrm>
        </p:grpSpPr>
        <p:sp>
          <p:nvSpPr>
            <p:cNvPr id="119" name="Google Shape;119;p15"/>
            <p:cNvSpPr/>
            <p:nvPr/>
          </p:nvSpPr>
          <p:spPr>
            <a:xfrm>
              <a:off x="0" y="0"/>
              <a:ext cx="3790112" cy="287753"/>
            </a:xfrm>
            <a:custGeom>
              <a:rect b="b" l="l" r="r" t="t"/>
              <a:pathLst>
                <a:path extrusionOk="0" h="287753" w="3790112">
                  <a:moveTo>
                    <a:pt x="27437" y="0"/>
                  </a:moveTo>
                  <a:lnTo>
                    <a:pt x="3762675" y="0"/>
                  </a:lnTo>
                  <a:cubicBezTo>
                    <a:pt x="3777828" y="0"/>
                    <a:pt x="3790112" y="12284"/>
                    <a:pt x="3790112" y="27437"/>
                  </a:cubicBezTo>
                  <a:lnTo>
                    <a:pt x="3790112" y="260316"/>
                  </a:lnTo>
                  <a:cubicBezTo>
                    <a:pt x="3790112" y="275469"/>
                    <a:pt x="3777828" y="287753"/>
                    <a:pt x="3762675" y="287753"/>
                  </a:cubicBezTo>
                  <a:lnTo>
                    <a:pt x="27437" y="287753"/>
                  </a:lnTo>
                  <a:cubicBezTo>
                    <a:pt x="12284" y="287753"/>
                    <a:pt x="0" y="275469"/>
                    <a:pt x="0" y="260316"/>
                  </a:cubicBezTo>
                  <a:lnTo>
                    <a:pt x="0" y="27437"/>
                  </a:lnTo>
                  <a:cubicBezTo>
                    <a:pt x="0" y="12284"/>
                    <a:pt x="12284" y="0"/>
                    <a:pt x="2743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5"/>
            <p:cNvSpPr txBox="1"/>
            <p:nvPr/>
          </p:nvSpPr>
          <p:spPr>
            <a:xfrm>
              <a:off x="0" y="-47625"/>
              <a:ext cx="3790112" cy="3353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00" u="none" cap="none" strike="noStrike">
                  <a:solidFill>
                    <a:srgbClr val="284B63"/>
                  </a:solidFill>
                  <a:latin typeface="Inter"/>
                  <a:ea typeface="Inter"/>
                  <a:cs typeface="Inter"/>
                  <a:sym typeface="Inter"/>
                </a:rPr>
                <a:t>Etap 3:</a:t>
              </a:r>
              <a:r>
                <a:rPr b="0" i="0" lang="en-US" sz="2100" u="none" cap="none" strike="noStrike">
                  <a:solidFill>
                    <a:srgbClr val="284B63"/>
                  </a:solidFill>
                  <a:latin typeface="Inter"/>
                  <a:ea typeface="Inter"/>
                  <a:cs typeface="Inter"/>
                  <a:sym typeface="Inter"/>
                </a:rPr>
                <a:t> Stworzenie miary </a:t>
              </a:r>
              <a:r>
                <a:rPr b="1" i="0" lang="en-US" sz="2100" u="none" cap="none" strike="noStrike">
                  <a:solidFill>
                    <a:srgbClr val="284B63"/>
                  </a:solidFill>
                  <a:latin typeface="Inter"/>
                  <a:ea typeface="Inter"/>
                  <a:cs typeface="Inter"/>
                  <a:sym typeface="Inter"/>
                </a:rPr>
                <a:t>Possibility Profit = (365 - AVG(Availability)) * AVG(Price)</a:t>
              </a:r>
              <a:r>
                <a:rPr b="0" i="0" lang="en-US" sz="2100" u="none" cap="none" strike="noStrike">
                  <a:solidFill>
                    <a:srgbClr val="284B63"/>
                  </a:solidFill>
                  <a:latin typeface="Inter"/>
                  <a:ea typeface="Inter"/>
                  <a:cs typeface="Inter"/>
                  <a:sym typeface="Inter"/>
                </a:rPr>
                <a:t>, dającej przypuszczalny obraz zysku w skali roku.</a:t>
              </a:r>
              <a:endParaRPr/>
            </a:p>
          </p:txBody>
        </p:sp>
      </p:grpSp>
      <p:grpSp>
        <p:nvGrpSpPr>
          <p:cNvPr id="121" name="Google Shape;121;p15"/>
          <p:cNvGrpSpPr/>
          <p:nvPr/>
        </p:nvGrpSpPr>
        <p:grpSpPr>
          <a:xfrm>
            <a:off x="1948710" y="7650067"/>
            <a:ext cx="14390581" cy="1273389"/>
            <a:chOff x="0" y="-47625"/>
            <a:chExt cx="3790112" cy="335378"/>
          </a:xfrm>
        </p:grpSpPr>
        <p:sp>
          <p:nvSpPr>
            <p:cNvPr id="122" name="Google Shape;122;p15"/>
            <p:cNvSpPr/>
            <p:nvPr/>
          </p:nvSpPr>
          <p:spPr>
            <a:xfrm>
              <a:off x="0" y="0"/>
              <a:ext cx="3790112" cy="287753"/>
            </a:xfrm>
            <a:custGeom>
              <a:rect b="b" l="l" r="r" t="t"/>
              <a:pathLst>
                <a:path extrusionOk="0" h="287753" w="3790112">
                  <a:moveTo>
                    <a:pt x="27437" y="0"/>
                  </a:moveTo>
                  <a:lnTo>
                    <a:pt x="3762675" y="0"/>
                  </a:lnTo>
                  <a:cubicBezTo>
                    <a:pt x="3777828" y="0"/>
                    <a:pt x="3790112" y="12284"/>
                    <a:pt x="3790112" y="27437"/>
                  </a:cubicBezTo>
                  <a:lnTo>
                    <a:pt x="3790112" y="260316"/>
                  </a:lnTo>
                  <a:cubicBezTo>
                    <a:pt x="3790112" y="275469"/>
                    <a:pt x="3777828" y="287753"/>
                    <a:pt x="3762675" y="287753"/>
                  </a:cubicBezTo>
                  <a:lnTo>
                    <a:pt x="27437" y="287753"/>
                  </a:lnTo>
                  <a:cubicBezTo>
                    <a:pt x="12284" y="287753"/>
                    <a:pt x="0" y="275469"/>
                    <a:pt x="0" y="260316"/>
                  </a:cubicBezTo>
                  <a:lnTo>
                    <a:pt x="0" y="27437"/>
                  </a:lnTo>
                  <a:cubicBezTo>
                    <a:pt x="0" y="12284"/>
                    <a:pt x="12284" y="0"/>
                    <a:pt x="2743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5"/>
            <p:cNvSpPr txBox="1"/>
            <p:nvPr/>
          </p:nvSpPr>
          <p:spPr>
            <a:xfrm>
              <a:off x="0" y="-47625"/>
              <a:ext cx="3790112" cy="3353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00" u="none" cap="none" strike="noStrike">
                  <a:solidFill>
                    <a:srgbClr val="284B63"/>
                  </a:solidFill>
                  <a:latin typeface="Inter"/>
                  <a:ea typeface="Inter"/>
                  <a:cs typeface="Inter"/>
                  <a:sym typeface="Inter"/>
                </a:rPr>
                <a:t>Etap 4 (Tableau):</a:t>
              </a:r>
              <a:r>
                <a:rPr b="0" i="0" lang="en-US" sz="2100" u="none" cap="none" strike="noStrike">
                  <a:solidFill>
                    <a:srgbClr val="284B63"/>
                  </a:solidFill>
                  <a:latin typeface="Inter"/>
                  <a:ea typeface="Inter"/>
                  <a:cs typeface="Inter"/>
                  <a:sym typeface="Inter"/>
                </a:rPr>
                <a:t> Budowa dashboardu z filtrami, zapewniającymi elastyczność w analizie oraz przedstawieniu wyników.</a:t>
              </a:r>
              <a:endParaRPr/>
            </a:p>
          </p:txBody>
        </p:sp>
      </p:grpSp>
      <p:cxnSp>
        <p:nvCxnSpPr>
          <p:cNvPr id="124" name="Google Shape;124;p15"/>
          <p:cNvCxnSpPr/>
          <p:nvPr/>
        </p:nvCxnSpPr>
        <p:spPr>
          <a:xfrm>
            <a:off x="9163050" y="7264828"/>
            <a:ext cx="0" cy="434210"/>
          </a:xfrm>
          <a:prstGeom prst="straightConnector1">
            <a:avLst/>
          </a:prstGeom>
          <a:noFill/>
          <a:ln cap="flat" cmpd="sng" w="38100">
            <a:solidFill>
              <a:srgbClr val="F1F4F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5" name="Google Shape;125;p15"/>
          <p:cNvCxnSpPr/>
          <p:nvPr/>
        </p:nvCxnSpPr>
        <p:spPr>
          <a:xfrm>
            <a:off x="9144000" y="5472850"/>
            <a:ext cx="0" cy="434210"/>
          </a:xfrm>
          <a:prstGeom prst="straightConnector1">
            <a:avLst/>
          </a:prstGeom>
          <a:noFill/>
          <a:ln cap="flat" cmpd="sng" w="38100">
            <a:solidFill>
              <a:srgbClr val="F1F4F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6" name="Google Shape;126;p15"/>
          <p:cNvCxnSpPr/>
          <p:nvPr/>
        </p:nvCxnSpPr>
        <p:spPr>
          <a:xfrm>
            <a:off x="9124950" y="3680872"/>
            <a:ext cx="0" cy="434210"/>
          </a:xfrm>
          <a:prstGeom prst="straightConnector1">
            <a:avLst/>
          </a:prstGeom>
          <a:noFill/>
          <a:ln cap="flat" cmpd="sng" w="38100">
            <a:solidFill>
              <a:srgbClr val="F1F4F8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A38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" name="Google Shape;131;p16"/>
          <p:cNvGrpSpPr/>
          <p:nvPr/>
        </p:nvGrpSpPr>
        <p:grpSpPr>
          <a:xfrm>
            <a:off x="10718351" y="7578782"/>
            <a:ext cx="6540979" cy="2258377"/>
            <a:chOff x="0" y="12700"/>
            <a:chExt cx="8721306" cy="3011169"/>
          </a:xfrm>
        </p:grpSpPr>
        <p:sp>
          <p:nvSpPr>
            <p:cNvPr id="132" name="Google Shape;132;p16"/>
            <p:cNvSpPr txBox="1"/>
            <p:nvPr/>
          </p:nvSpPr>
          <p:spPr>
            <a:xfrm>
              <a:off x="25806" y="1561465"/>
              <a:ext cx="8695459" cy="14624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F1F4F8"/>
                  </a:solidFill>
                  <a:latin typeface="Inter"/>
                  <a:ea typeface="Inter"/>
                  <a:cs typeface="Inter"/>
                  <a:sym typeface="Inter"/>
                </a:rPr>
                <a:t>Mimo najwyższych cen w segmencie </a:t>
              </a:r>
              <a:r>
                <a:rPr b="1" i="0" lang="en-US" sz="2100" u="none" cap="none" strike="noStrike">
                  <a:solidFill>
                    <a:srgbClr val="F1F4F8"/>
                  </a:solidFill>
                  <a:latin typeface="Inter"/>
                  <a:ea typeface="Inter"/>
                  <a:cs typeface="Inter"/>
                  <a:sym typeface="Inter"/>
                </a:rPr>
                <a:t>Hotel Room</a:t>
              </a:r>
              <a:r>
                <a:rPr b="0" i="0" lang="en-US" sz="2100" u="none" cap="none" strike="noStrike">
                  <a:solidFill>
                    <a:srgbClr val="F1F4F8"/>
                  </a:solidFill>
                  <a:latin typeface="Inter"/>
                  <a:ea typeface="Inter"/>
                  <a:cs typeface="Inter"/>
                  <a:sym typeface="Inter"/>
                </a:rPr>
                <a:t>, o zysku w skali roku decyduje nie tylko stawka za noc, ale też obłożenie lokalu czy lokalizacja.</a:t>
              </a:r>
              <a:endParaRPr/>
            </a:p>
          </p:txBody>
        </p:sp>
        <p:sp>
          <p:nvSpPr>
            <p:cNvPr id="133" name="Google Shape;133;p16"/>
            <p:cNvSpPr txBox="1"/>
            <p:nvPr/>
          </p:nvSpPr>
          <p:spPr>
            <a:xfrm>
              <a:off x="25806" y="614045"/>
              <a:ext cx="8695500" cy="65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49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3200" u="none" cap="none" strike="noStrike">
                  <a:solidFill>
                    <a:srgbClr val="F1F4F8"/>
                  </a:solidFill>
                  <a:latin typeface="Georgia"/>
                  <a:ea typeface="Georgia"/>
                  <a:cs typeface="Georgia"/>
                  <a:sym typeface="Georgia"/>
                </a:rPr>
                <a:t>Typy nieruchomości</a:t>
              </a:r>
              <a:endParaRPr>
                <a:latin typeface="Georgia"/>
                <a:ea typeface="Georgia"/>
                <a:cs typeface="Georgia"/>
                <a:sym typeface="Georgia"/>
              </a:endParaRPr>
            </a:p>
          </p:txBody>
        </p:sp>
        <p:cxnSp>
          <p:nvCxnSpPr>
            <p:cNvPr id="134" name="Google Shape;134;p16"/>
            <p:cNvCxnSpPr/>
            <p:nvPr/>
          </p:nvCxnSpPr>
          <p:spPr>
            <a:xfrm>
              <a:off x="0" y="12700"/>
              <a:ext cx="8721266" cy="0"/>
            </a:xfrm>
            <a:prstGeom prst="straightConnector1">
              <a:avLst/>
            </a:prstGeom>
            <a:noFill/>
            <a:ln cap="flat" cmpd="sng" w="25400">
              <a:solidFill>
                <a:srgbClr val="F1F4F8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35" name="Google Shape;135;p16"/>
          <p:cNvGrpSpPr/>
          <p:nvPr/>
        </p:nvGrpSpPr>
        <p:grpSpPr>
          <a:xfrm>
            <a:off x="1028700" y="7578782"/>
            <a:ext cx="6787421" cy="2258377"/>
            <a:chOff x="0" y="12700"/>
            <a:chExt cx="9049895" cy="3011169"/>
          </a:xfrm>
        </p:grpSpPr>
        <p:sp>
          <p:nvSpPr>
            <p:cNvPr id="136" name="Google Shape;136;p16"/>
            <p:cNvSpPr txBox="1"/>
            <p:nvPr/>
          </p:nvSpPr>
          <p:spPr>
            <a:xfrm>
              <a:off x="0" y="1561465"/>
              <a:ext cx="9049895" cy="14624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F1F4F8"/>
                  </a:solidFill>
                  <a:latin typeface="Inter"/>
                  <a:ea typeface="Inter"/>
                  <a:cs typeface="Inter"/>
                  <a:sym typeface="Inter"/>
                </a:rPr>
                <a:t>Parametry takie jak liczba recenzji czy minimalna liczba nocy mają znikomy wpływ na cenę w porównaniu do typu obiektu lub jego lokalizacji.</a:t>
              </a:r>
              <a:endParaRPr/>
            </a:p>
          </p:txBody>
        </p:sp>
        <p:sp>
          <p:nvSpPr>
            <p:cNvPr id="137" name="Google Shape;137;p16"/>
            <p:cNvSpPr txBox="1"/>
            <p:nvPr/>
          </p:nvSpPr>
          <p:spPr>
            <a:xfrm>
              <a:off x="0" y="614045"/>
              <a:ext cx="9049800" cy="65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49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3200" u="none" cap="none" strike="noStrike">
                  <a:solidFill>
                    <a:srgbClr val="F1F4F8"/>
                  </a:solidFill>
                  <a:latin typeface="Georgia"/>
                  <a:ea typeface="Georgia"/>
                  <a:cs typeface="Georgia"/>
                  <a:sym typeface="Georgia"/>
                </a:rPr>
                <a:t>Analiza korelacji</a:t>
              </a:r>
              <a:endParaRPr>
                <a:latin typeface="Georgia"/>
                <a:ea typeface="Georgia"/>
                <a:cs typeface="Georgia"/>
                <a:sym typeface="Georgia"/>
              </a:endParaRPr>
            </a:p>
          </p:txBody>
        </p:sp>
        <p:cxnSp>
          <p:nvCxnSpPr>
            <p:cNvPr id="138" name="Google Shape;138;p16"/>
            <p:cNvCxnSpPr/>
            <p:nvPr/>
          </p:nvCxnSpPr>
          <p:spPr>
            <a:xfrm>
              <a:off x="0" y="12700"/>
              <a:ext cx="9049895" cy="0"/>
            </a:xfrm>
            <a:prstGeom prst="straightConnector1">
              <a:avLst/>
            </a:prstGeom>
            <a:noFill/>
            <a:ln cap="flat" cmpd="sng" w="25400">
              <a:solidFill>
                <a:srgbClr val="F1F4F8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39" name="Google Shape;139;p16"/>
          <p:cNvSpPr/>
          <p:nvPr/>
        </p:nvSpPr>
        <p:spPr>
          <a:xfrm>
            <a:off x="1028700" y="3072474"/>
            <a:ext cx="6787421" cy="4182748"/>
          </a:xfrm>
          <a:custGeom>
            <a:rect b="b" l="l" r="r" t="t"/>
            <a:pathLst>
              <a:path extrusionOk="0" h="4182748" w="6787421">
                <a:moveTo>
                  <a:pt x="0" y="0"/>
                </a:moveTo>
                <a:lnTo>
                  <a:pt x="6787421" y="0"/>
                </a:lnTo>
                <a:lnTo>
                  <a:pt x="6787421" y="4182749"/>
                </a:lnTo>
                <a:lnTo>
                  <a:pt x="0" y="41827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0" name="Google Shape;140;p16"/>
          <p:cNvSpPr txBox="1"/>
          <p:nvPr/>
        </p:nvSpPr>
        <p:spPr>
          <a:xfrm>
            <a:off x="1028700" y="723609"/>
            <a:ext cx="112014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6000" u="none" cap="none" strike="noStrike">
                <a:solidFill>
                  <a:srgbClr val="F1F4F8"/>
                </a:solidFill>
                <a:latin typeface="Georgia"/>
                <a:ea typeface="Georgia"/>
                <a:cs typeface="Georgia"/>
                <a:sym typeface="Georgia"/>
              </a:rPr>
              <a:t>Czynniki wpływające na ceny wynajmu</a:t>
            </a:r>
            <a:endParaRPr sz="6000">
              <a:latin typeface="Georgia"/>
              <a:ea typeface="Georgia"/>
              <a:cs typeface="Georgia"/>
              <a:sym typeface="Georgia"/>
            </a:endParaRPr>
          </a:p>
        </p:txBody>
      </p:sp>
      <p:grpSp>
        <p:nvGrpSpPr>
          <p:cNvPr id="141" name="Google Shape;141;p16"/>
          <p:cNvGrpSpPr/>
          <p:nvPr/>
        </p:nvGrpSpPr>
        <p:grpSpPr>
          <a:xfrm>
            <a:off x="10718351" y="4082972"/>
            <a:ext cx="7015403" cy="2420366"/>
            <a:chOff x="0" y="-9525"/>
            <a:chExt cx="9353871" cy="3227155"/>
          </a:xfrm>
        </p:grpSpPr>
        <p:sp>
          <p:nvSpPr>
            <p:cNvPr id="142" name="Google Shape;142;p16"/>
            <p:cNvSpPr txBox="1"/>
            <p:nvPr/>
          </p:nvSpPr>
          <p:spPr>
            <a:xfrm>
              <a:off x="0" y="-9525"/>
              <a:ext cx="6193200" cy="30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99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TYP POKOJU</a:t>
              </a:r>
              <a:endParaRPr b="1" sz="13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43" name="Google Shape;143;p16"/>
            <p:cNvSpPr txBox="1"/>
            <p:nvPr/>
          </p:nvSpPr>
          <p:spPr>
            <a:xfrm>
              <a:off x="0" y="557530"/>
              <a:ext cx="6193200" cy="266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597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2552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Hotel room         </a:t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marR="0" rtl="0" algn="l">
                <a:lnSpc>
                  <a:spcPct val="13597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2552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Shared room        </a:t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marR="0" rtl="0" algn="l">
                <a:lnSpc>
                  <a:spcPct val="13597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2552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Entire home/apt    </a:t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marR="0" rtl="0" algn="l">
                <a:lnSpc>
                  <a:spcPct val="13597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2552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Private room       </a:t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44" name="Google Shape;144;p16"/>
            <p:cNvSpPr txBox="1"/>
            <p:nvPr/>
          </p:nvSpPr>
          <p:spPr>
            <a:xfrm>
              <a:off x="5780361" y="-9525"/>
              <a:ext cx="3160800" cy="30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99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ŚREDNIA CENA ZA NOC</a:t>
              </a:r>
              <a:endParaRPr b="1" sz="13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45" name="Google Shape;145;p16"/>
            <p:cNvSpPr txBox="1"/>
            <p:nvPr/>
          </p:nvSpPr>
          <p:spPr>
            <a:xfrm>
              <a:off x="6577671" y="557530"/>
              <a:ext cx="2776200" cy="266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597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2552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$668,46</a:t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marR="0" rtl="0" algn="l">
                <a:lnSpc>
                  <a:spcPct val="13597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2552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$634,13</a:t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marR="0" rtl="0" algn="l">
                <a:lnSpc>
                  <a:spcPct val="13597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2552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$625,05</a:t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marR="0" rtl="0" algn="l">
                <a:lnSpc>
                  <a:spcPct val="13597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2552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$625,00</a:t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84B63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0" name="Google Shape;150;p17"/>
          <p:cNvCxnSpPr/>
          <p:nvPr/>
        </p:nvCxnSpPr>
        <p:spPr>
          <a:xfrm>
            <a:off x="666750" y="2466975"/>
            <a:ext cx="16954500" cy="0"/>
          </a:xfrm>
          <a:prstGeom prst="straightConnector1">
            <a:avLst/>
          </a:prstGeom>
          <a:noFill/>
          <a:ln cap="flat" cmpd="sng" w="19050">
            <a:solidFill>
              <a:srgbClr val="F1F4F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1" name="Google Shape;151;p17"/>
          <p:cNvSpPr/>
          <p:nvPr/>
        </p:nvSpPr>
        <p:spPr>
          <a:xfrm>
            <a:off x="666750" y="4040151"/>
            <a:ext cx="7183755" cy="2271863"/>
          </a:xfrm>
          <a:custGeom>
            <a:rect b="b" l="l" r="r" t="t"/>
            <a:pathLst>
              <a:path extrusionOk="0" h="2271863" w="7183755">
                <a:moveTo>
                  <a:pt x="0" y="0"/>
                </a:moveTo>
                <a:lnTo>
                  <a:pt x="7183755" y="0"/>
                </a:lnTo>
                <a:lnTo>
                  <a:pt x="7183755" y="2271863"/>
                </a:lnTo>
                <a:lnTo>
                  <a:pt x="0" y="22718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2" name="Google Shape;152;p17"/>
          <p:cNvSpPr/>
          <p:nvPr/>
        </p:nvSpPr>
        <p:spPr>
          <a:xfrm>
            <a:off x="10125075" y="4040151"/>
            <a:ext cx="7134225" cy="2271863"/>
          </a:xfrm>
          <a:custGeom>
            <a:rect b="b" l="l" r="r" t="t"/>
            <a:pathLst>
              <a:path extrusionOk="0" h="2271863" w="7134225">
                <a:moveTo>
                  <a:pt x="0" y="0"/>
                </a:moveTo>
                <a:lnTo>
                  <a:pt x="7134225" y="0"/>
                </a:lnTo>
                <a:lnTo>
                  <a:pt x="7134225" y="2271863"/>
                </a:lnTo>
                <a:lnTo>
                  <a:pt x="0" y="22718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146" r="-147" t="0"/>
            </a:stretch>
          </a:blipFill>
          <a:ln>
            <a:noFill/>
          </a:ln>
        </p:spPr>
      </p:sp>
      <p:sp>
        <p:nvSpPr>
          <p:cNvPr id="153" name="Google Shape;153;p17"/>
          <p:cNvSpPr txBox="1"/>
          <p:nvPr/>
        </p:nvSpPr>
        <p:spPr>
          <a:xfrm>
            <a:off x="10125075" y="2847975"/>
            <a:ext cx="7134225" cy="3892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F1F4F8"/>
                </a:solidFill>
                <a:latin typeface="Inter"/>
                <a:ea typeface="Inter"/>
                <a:cs typeface="Inter"/>
                <a:sym typeface="Inter"/>
              </a:rPr>
              <a:t>Scenariusz B:</a:t>
            </a:r>
            <a:r>
              <a:rPr b="0" i="0" lang="en-US" sz="2300" u="none" cap="none" strike="noStrike">
                <a:solidFill>
                  <a:srgbClr val="F1F4F8"/>
                </a:solidFill>
                <a:latin typeface="Inter"/>
                <a:ea typeface="Inter"/>
                <a:cs typeface="Inter"/>
                <a:sym typeface="Inter"/>
              </a:rPr>
              <a:t> Model precyzyjny (np. Pokoje prywatne)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666750" y="2847975"/>
            <a:ext cx="7183755" cy="3892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F1F4F8"/>
                </a:solidFill>
                <a:latin typeface="Inter"/>
                <a:ea typeface="Inter"/>
                <a:cs typeface="Inter"/>
                <a:sym typeface="Inter"/>
              </a:rPr>
              <a:t>Scenariusz A: </a:t>
            </a:r>
            <a:r>
              <a:rPr b="0" i="0" lang="en-US" sz="2300" u="none" cap="none" strike="noStrike">
                <a:solidFill>
                  <a:srgbClr val="F1F4F8"/>
                </a:solidFill>
                <a:latin typeface="Inter"/>
                <a:ea typeface="Inter"/>
                <a:cs typeface="Inter"/>
                <a:sym typeface="Inter"/>
              </a:rPr>
              <a:t>Ranking ogólny (Wszystkie obiekty)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666750" y="723900"/>
            <a:ext cx="8325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6000" u="none" cap="none" strike="noStrike">
                <a:solidFill>
                  <a:srgbClr val="F1F4F8"/>
                </a:solidFill>
                <a:latin typeface="Georgia"/>
                <a:ea typeface="Georgia"/>
                <a:cs typeface="Georgia"/>
                <a:sym typeface="Georgia"/>
              </a:rPr>
              <a:t>Porównanie cen</a:t>
            </a:r>
            <a:endParaRPr sz="60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6" name="Google Shape;156;p17"/>
          <p:cNvSpPr txBox="1"/>
          <p:nvPr/>
        </p:nvSpPr>
        <p:spPr>
          <a:xfrm>
            <a:off x="9296400" y="655320"/>
            <a:ext cx="8324850" cy="737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1F4F8"/>
                </a:solidFill>
                <a:latin typeface="Inter"/>
                <a:ea typeface="Inter"/>
                <a:cs typeface="Inter"/>
                <a:sym typeface="Inter"/>
              </a:rPr>
              <a:t>Lokalizacja to nie wszystko</a:t>
            </a:r>
            <a:r>
              <a:rPr b="0" i="0" lang="en-US" sz="2100" u="none" cap="none" strike="noStrike">
                <a:solidFill>
                  <a:srgbClr val="F1F4F8"/>
                </a:solidFill>
                <a:latin typeface="Inter"/>
                <a:ea typeface="Inter"/>
                <a:cs typeface="Inter"/>
                <a:sym typeface="Inter"/>
              </a:rPr>
              <a:t> – kluczem jest dopasowanie typu obiektu do dzielnicy.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666750" y="7083539"/>
            <a:ext cx="7183755" cy="6470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F1F4F8"/>
                </a:solidFill>
                <a:latin typeface="Inter"/>
                <a:ea typeface="Inter"/>
                <a:cs typeface="Inter"/>
                <a:sym typeface="Inter"/>
              </a:rPr>
              <a:t>Ranking ogólny sugeruje wybór najpopularniejszych dzielnic, ignorując różnice w typach zabudowy.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10125075" y="7083539"/>
            <a:ext cx="7183755" cy="6470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F1F4F8"/>
                </a:solidFill>
                <a:latin typeface="Inter"/>
                <a:ea typeface="Inter"/>
                <a:cs typeface="Inter"/>
                <a:sym typeface="Inter"/>
              </a:rPr>
              <a:t>Dopasowanie pod konkretny scenariusz ujawnia lokalizacje o najwyższym potencjale dla danego typu nieruchomości.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3309412" y="8999855"/>
            <a:ext cx="11364376" cy="4883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1F4F8"/>
                </a:solidFill>
                <a:latin typeface="Inter"/>
                <a:ea typeface="Inter"/>
                <a:cs typeface="Inter"/>
                <a:sym typeface="Inter"/>
              </a:rPr>
              <a:t>*</a:t>
            </a:r>
            <a:r>
              <a:rPr b="1" i="0" lang="en-US" sz="1400" u="none" cap="none" strike="noStrike">
                <a:solidFill>
                  <a:srgbClr val="F1F4F8"/>
                </a:solidFill>
                <a:latin typeface="Inter"/>
                <a:ea typeface="Inter"/>
                <a:cs typeface="Inter"/>
                <a:sym typeface="Inter"/>
              </a:rPr>
              <a:t>Szacowany przychód roczny (Possibility Profit)</a:t>
            </a:r>
            <a:r>
              <a:rPr b="0" i="0" lang="en-US" sz="1400" u="none" cap="none" strike="noStrike">
                <a:solidFill>
                  <a:srgbClr val="F1F4F8"/>
                </a:solidFill>
                <a:latin typeface="Inter"/>
                <a:ea typeface="Inter"/>
                <a:cs typeface="Inter"/>
                <a:sym typeface="Inter"/>
              </a:rPr>
              <a:t> został wyliczony na podstawie wzoru: </a:t>
            </a:r>
            <a:r>
              <a:rPr b="1" i="0" lang="en-US" sz="1400" u="none" cap="none" strike="noStrike">
                <a:solidFill>
                  <a:srgbClr val="F1F4F8"/>
                </a:solidFill>
                <a:latin typeface="Inter"/>
                <a:ea typeface="Inter"/>
                <a:cs typeface="Inter"/>
                <a:sym typeface="Inter"/>
              </a:rPr>
              <a:t>(365 - AVG(Availability)) * AVG(Price)</a:t>
            </a:r>
            <a:r>
              <a:rPr b="0" i="0" lang="en-US" sz="1400" u="none" cap="none" strike="noStrike">
                <a:solidFill>
                  <a:srgbClr val="F1F4F8"/>
                </a:solidFill>
                <a:latin typeface="Inter"/>
                <a:ea typeface="Inter"/>
                <a:cs typeface="Inter"/>
                <a:sym typeface="Inter"/>
              </a:rPr>
              <a:t>, gdzie </a:t>
            </a:r>
            <a:r>
              <a:rPr b="1" i="0" lang="en-US" sz="1400" u="none" cap="none" strike="noStrike">
                <a:solidFill>
                  <a:srgbClr val="F1F4F8"/>
                </a:solidFill>
                <a:latin typeface="Inter"/>
                <a:ea typeface="Inter"/>
                <a:cs typeface="Inter"/>
                <a:sym typeface="Inter"/>
              </a:rPr>
              <a:t>Availability</a:t>
            </a:r>
            <a:r>
              <a:rPr b="0" i="0" lang="en-US" sz="1400" u="none" cap="none" strike="noStrike">
                <a:solidFill>
                  <a:srgbClr val="F1F4F8"/>
                </a:solidFill>
                <a:latin typeface="Inter"/>
                <a:ea typeface="Inter"/>
                <a:cs typeface="Inter"/>
                <a:sym typeface="Inter"/>
              </a:rPr>
              <a:t> oznacza ilość dni gdy lokal jest niewynajmowany, a </a:t>
            </a:r>
            <a:r>
              <a:rPr b="1" i="0" lang="en-US" sz="1400" u="none" cap="none" strike="noStrike">
                <a:solidFill>
                  <a:srgbClr val="F1F4F8"/>
                </a:solidFill>
                <a:latin typeface="Inter"/>
                <a:ea typeface="Inter"/>
                <a:cs typeface="Inter"/>
                <a:sym typeface="Inter"/>
              </a:rPr>
              <a:t>Price</a:t>
            </a:r>
            <a:r>
              <a:rPr b="0" i="0" lang="en-US" sz="1400" u="none" cap="none" strike="noStrike">
                <a:solidFill>
                  <a:srgbClr val="F1F4F8"/>
                </a:solidFill>
                <a:latin typeface="Inter"/>
                <a:ea typeface="Inter"/>
                <a:cs typeface="Inter"/>
                <a:sym typeface="Inter"/>
              </a:rPr>
              <a:t> - cenę za jedną noc.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A38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"/>
          <p:cNvSpPr txBox="1"/>
          <p:nvPr/>
        </p:nvSpPr>
        <p:spPr>
          <a:xfrm>
            <a:off x="1028700" y="307456"/>
            <a:ext cx="162306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6000" u="none" cap="none" strike="noStrike">
                <a:solidFill>
                  <a:srgbClr val="F1F4F8"/>
                </a:solidFill>
                <a:latin typeface="Georgia"/>
                <a:ea typeface="Georgia"/>
                <a:cs typeface="Georgia"/>
                <a:sym typeface="Georgia"/>
              </a:rPr>
              <a:t>Wskazania Modelu Precyzyjnego: Topowe lokalizacje dla wybranych segmentów</a:t>
            </a:r>
            <a:endParaRPr sz="6000"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165" name="Google Shape;165;p18"/>
          <p:cNvCxnSpPr/>
          <p:nvPr/>
        </p:nvCxnSpPr>
        <p:spPr>
          <a:xfrm>
            <a:off x="1028700" y="9634538"/>
            <a:ext cx="16230600" cy="0"/>
          </a:xfrm>
          <a:prstGeom prst="straightConnector1">
            <a:avLst/>
          </a:prstGeom>
          <a:noFill/>
          <a:ln cap="flat" cmpd="sng" w="9525">
            <a:solidFill>
              <a:srgbClr val="F1F4F8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66" name="Google Shape;166;p18"/>
          <p:cNvGrpSpPr/>
          <p:nvPr/>
        </p:nvGrpSpPr>
        <p:grpSpPr>
          <a:xfrm>
            <a:off x="1028700" y="2532645"/>
            <a:ext cx="6745834" cy="3266926"/>
            <a:chOff x="0" y="-241102"/>
            <a:chExt cx="8994445" cy="4355902"/>
          </a:xfrm>
        </p:grpSpPr>
        <p:grpSp>
          <p:nvGrpSpPr>
            <p:cNvPr id="167" name="Google Shape;167;p18"/>
            <p:cNvGrpSpPr/>
            <p:nvPr/>
          </p:nvGrpSpPr>
          <p:grpSpPr>
            <a:xfrm>
              <a:off x="0" y="-241102"/>
              <a:ext cx="8994445" cy="4355902"/>
              <a:chOff x="0" y="-47625"/>
              <a:chExt cx="1776681" cy="860425"/>
            </a:xfrm>
          </p:grpSpPr>
          <p:sp>
            <p:nvSpPr>
              <p:cNvPr id="168" name="Google Shape;168;p18"/>
              <p:cNvSpPr/>
              <p:nvPr/>
            </p:nvSpPr>
            <p:spPr>
              <a:xfrm>
                <a:off x="0" y="0"/>
                <a:ext cx="1776681" cy="812800"/>
              </a:xfrm>
              <a:custGeom>
                <a:rect b="b" l="l" r="r" t="t"/>
                <a:pathLst>
                  <a:path extrusionOk="0" h="812800" w="1776681">
                    <a:moveTo>
                      <a:pt x="90528" y="0"/>
                    </a:moveTo>
                    <a:lnTo>
                      <a:pt x="1686153" y="0"/>
                    </a:lnTo>
                    <a:cubicBezTo>
                      <a:pt x="1710162" y="0"/>
                      <a:pt x="1733188" y="9538"/>
                      <a:pt x="1750165" y="26515"/>
                    </a:cubicBezTo>
                    <a:cubicBezTo>
                      <a:pt x="1767143" y="43492"/>
                      <a:pt x="1776681" y="66518"/>
                      <a:pt x="1776681" y="90528"/>
                    </a:cubicBezTo>
                    <a:lnTo>
                      <a:pt x="1776681" y="722272"/>
                    </a:lnTo>
                    <a:cubicBezTo>
                      <a:pt x="1776681" y="746282"/>
                      <a:pt x="1767143" y="769308"/>
                      <a:pt x="1750165" y="786285"/>
                    </a:cubicBezTo>
                    <a:cubicBezTo>
                      <a:pt x="1733188" y="803262"/>
                      <a:pt x="1710162" y="812800"/>
                      <a:pt x="1686153" y="812800"/>
                    </a:cubicBezTo>
                    <a:lnTo>
                      <a:pt x="90528" y="812800"/>
                    </a:lnTo>
                    <a:cubicBezTo>
                      <a:pt x="66518" y="812800"/>
                      <a:pt x="43492" y="803262"/>
                      <a:pt x="26515" y="786285"/>
                    </a:cubicBezTo>
                    <a:cubicBezTo>
                      <a:pt x="9538" y="769308"/>
                      <a:pt x="0" y="746282"/>
                      <a:pt x="0" y="722272"/>
                    </a:cubicBezTo>
                    <a:lnTo>
                      <a:pt x="0" y="90528"/>
                    </a:lnTo>
                    <a:cubicBezTo>
                      <a:pt x="0" y="66518"/>
                      <a:pt x="9538" y="43492"/>
                      <a:pt x="26515" y="26515"/>
                    </a:cubicBezTo>
                    <a:cubicBezTo>
                      <a:pt x="43492" y="9538"/>
                      <a:pt x="66518" y="0"/>
                      <a:pt x="9052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" name="Google Shape;169;p18"/>
              <p:cNvSpPr txBox="1"/>
              <p:nvPr/>
            </p:nvSpPr>
            <p:spPr>
              <a:xfrm>
                <a:off x="0" y="-47625"/>
                <a:ext cx="1776681" cy="860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2825" lIns="32825" spcFirstLastPara="1" rIns="32825" wrap="square" tIns="32825">
                <a:noAutofit/>
              </a:bodyPr>
              <a:lstStyle/>
              <a:p>
                <a:pPr indent="0" lvl="0" marL="0" marR="0" rtl="0" algn="ctr">
                  <a:lnSpc>
                    <a:spcPct val="1633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70" name="Google Shape;170;p18"/>
            <p:cNvSpPr txBox="1"/>
            <p:nvPr/>
          </p:nvSpPr>
          <p:spPr>
            <a:xfrm>
              <a:off x="516126" y="800381"/>
              <a:ext cx="5280300" cy="52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9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568" u="none" cap="none" strike="noStrike">
                  <a:solidFill>
                    <a:srgbClr val="1E2A3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DZIELNICA</a:t>
              </a:r>
              <a:endParaRPr b="1" sz="13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71" name="Google Shape;171;p18"/>
            <p:cNvSpPr txBox="1"/>
            <p:nvPr/>
          </p:nvSpPr>
          <p:spPr>
            <a:xfrm>
              <a:off x="516126" y="1604693"/>
              <a:ext cx="5280300" cy="194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597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2552" u="none" cap="none" strike="noStrike">
                  <a:solidFill>
                    <a:srgbClr val="1E2A3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New Dorp</a:t>
              </a:r>
              <a:endParaRPr i="0" sz="2552" u="none" cap="none" strike="noStrike">
                <a:solidFill>
                  <a:srgbClr val="1E2A3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lnSpc>
                  <a:spcPct val="135971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rPr lang="en-US" sz="2552">
                  <a:solidFill>
                    <a:srgbClr val="1E2A3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Shore Acres</a:t>
              </a:r>
              <a:endParaRPr sz="2552">
                <a:solidFill>
                  <a:srgbClr val="1E2A3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marR="0" rtl="0" algn="l">
                <a:lnSpc>
                  <a:spcPct val="13597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2552" u="none" cap="none" strike="noStrike">
                  <a:solidFill>
                    <a:srgbClr val="1E2A3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Mount Eden</a:t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72" name="Google Shape;172;p18"/>
            <p:cNvSpPr txBox="1"/>
            <p:nvPr/>
          </p:nvSpPr>
          <p:spPr>
            <a:xfrm>
              <a:off x="5796441" y="800381"/>
              <a:ext cx="2694900" cy="52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9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568" u="none" cap="none" strike="noStrike">
                  <a:solidFill>
                    <a:srgbClr val="1E2A3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PRZYCHÓD</a:t>
              </a:r>
              <a:endParaRPr b="1" sz="13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73" name="Google Shape;173;p18"/>
            <p:cNvSpPr txBox="1"/>
            <p:nvPr/>
          </p:nvSpPr>
          <p:spPr>
            <a:xfrm>
              <a:off x="5796441" y="1604693"/>
              <a:ext cx="2694900" cy="194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597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2552" u="none" cap="none" strike="noStrike">
                  <a:solidFill>
                    <a:srgbClr val="1E2A3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$357 651.25</a:t>
              </a:r>
              <a:endParaRPr i="0" sz="2552" u="none" cap="none" strike="noStrike">
                <a:solidFill>
                  <a:srgbClr val="1E2A3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marR="0" rtl="0" algn="l">
                <a:lnSpc>
                  <a:spcPct val="13597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552">
                  <a:solidFill>
                    <a:srgbClr val="1E2A3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$214 654.71</a:t>
              </a:r>
              <a:endParaRPr sz="2552">
                <a:solidFill>
                  <a:srgbClr val="1E2A3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marR="0" rtl="0" algn="l">
                <a:lnSpc>
                  <a:spcPct val="13597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2552" u="none" cap="none" strike="noStrike">
                  <a:solidFill>
                    <a:srgbClr val="1E2A3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$210 240.00</a:t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74" name="Google Shape;174;p18"/>
            <p:cNvSpPr txBox="1"/>
            <p:nvPr/>
          </p:nvSpPr>
          <p:spPr>
            <a:xfrm>
              <a:off x="0" y="-47625"/>
              <a:ext cx="8994300" cy="64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999" u="none" cap="none" strike="noStrike">
                  <a:solidFill>
                    <a:srgbClr val="1E2A38"/>
                  </a:solidFill>
                  <a:latin typeface="Open Sans"/>
                  <a:ea typeface="Open Sans"/>
                  <a:cs typeface="Open Sans"/>
                  <a:sym typeface="Open Sans"/>
                </a:rPr>
                <a:t>Cały dom / apartament</a:t>
              </a:r>
              <a:endParaRPr/>
            </a:p>
          </p:txBody>
        </p:sp>
      </p:grpSp>
      <p:grpSp>
        <p:nvGrpSpPr>
          <p:cNvPr id="175" name="Google Shape;175;p18"/>
          <p:cNvGrpSpPr/>
          <p:nvPr/>
        </p:nvGrpSpPr>
        <p:grpSpPr>
          <a:xfrm>
            <a:off x="1028700" y="5990220"/>
            <a:ext cx="6745834" cy="3266926"/>
            <a:chOff x="0" y="-241102"/>
            <a:chExt cx="8994445" cy="4355902"/>
          </a:xfrm>
        </p:grpSpPr>
        <p:grpSp>
          <p:nvGrpSpPr>
            <p:cNvPr id="176" name="Google Shape;176;p18"/>
            <p:cNvGrpSpPr/>
            <p:nvPr/>
          </p:nvGrpSpPr>
          <p:grpSpPr>
            <a:xfrm>
              <a:off x="0" y="-241102"/>
              <a:ext cx="8994445" cy="4355902"/>
              <a:chOff x="0" y="-47625"/>
              <a:chExt cx="1776681" cy="860425"/>
            </a:xfrm>
          </p:grpSpPr>
          <p:sp>
            <p:nvSpPr>
              <p:cNvPr id="177" name="Google Shape;177;p18"/>
              <p:cNvSpPr/>
              <p:nvPr/>
            </p:nvSpPr>
            <p:spPr>
              <a:xfrm>
                <a:off x="0" y="0"/>
                <a:ext cx="1776681" cy="812800"/>
              </a:xfrm>
              <a:custGeom>
                <a:rect b="b" l="l" r="r" t="t"/>
                <a:pathLst>
                  <a:path extrusionOk="0" h="812800" w="1776681">
                    <a:moveTo>
                      <a:pt x="90528" y="0"/>
                    </a:moveTo>
                    <a:lnTo>
                      <a:pt x="1686153" y="0"/>
                    </a:lnTo>
                    <a:cubicBezTo>
                      <a:pt x="1710162" y="0"/>
                      <a:pt x="1733188" y="9538"/>
                      <a:pt x="1750165" y="26515"/>
                    </a:cubicBezTo>
                    <a:cubicBezTo>
                      <a:pt x="1767143" y="43492"/>
                      <a:pt x="1776681" y="66518"/>
                      <a:pt x="1776681" y="90528"/>
                    </a:cubicBezTo>
                    <a:lnTo>
                      <a:pt x="1776681" y="722272"/>
                    </a:lnTo>
                    <a:cubicBezTo>
                      <a:pt x="1776681" y="746282"/>
                      <a:pt x="1767143" y="769308"/>
                      <a:pt x="1750165" y="786285"/>
                    </a:cubicBezTo>
                    <a:cubicBezTo>
                      <a:pt x="1733188" y="803262"/>
                      <a:pt x="1710162" y="812800"/>
                      <a:pt x="1686153" y="812800"/>
                    </a:cubicBezTo>
                    <a:lnTo>
                      <a:pt x="90528" y="812800"/>
                    </a:lnTo>
                    <a:cubicBezTo>
                      <a:pt x="66518" y="812800"/>
                      <a:pt x="43492" y="803262"/>
                      <a:pt x="26515" y="786285"/>
                    </a:cubicBezTo>
                    <a:cubicBezTo>
                      <a:pt x="9538" y="769308"/>
                      <a:pt x="0" y="746282"/>
                      <a:pt x="0" y="722272"/>
                    </a:cubicBezTo>
                    <a:lnTo>
                      <a:pt x="0" y="90528"/>
                    </a:lnTo>
                    <a:cubicBezTo>
                      <a:pt x="0" y="66518"/>
                      <a:pt x="9538" y="43492"/>
                      <a:pt x="26515" y="26515"/>
                    </a:cubicBezTo>
                    <a:cubicBezTo>
                      <a:pt x="43492" y="9538"/>
                      <a:pt x="66518" y="0"/>
                      <a:pt x="9052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" name="Google Shape;178;p18"/>
              <p:cNvSpPr txBox="1"/>
              <p:nvPr/>
            </p:nvSpPr>
            <p:spPr>
              <a:xfrm>
                <a:off x="0" y="-47625"/>
                <a:ext cx="1776681" cy="860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2825" lIns="32825" spcFirstLastPara="1" rIns="32825" wrap="square" tIns="32825">
                <a:noAutofit/>
              </a:bodyPr>
              <a:lstStyle/>
              <a:p>
                <a:pPr indent="0" lvl="0" marL="0" marR="0" rtl="0" algn="ctr">
                  <a:lnSpc>
                    <a:spcPct val="1633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79" name="Google Shape;179;p18"/>
            <p:cNvSpPr txBox="1"/>
            <p:nvPr/>
          </p:nvSpPr>
          <p:spPr>
            <a:xfrm>
              <a:off x="516126" y="800381"/>
              <a:ext cx="5280300" cy="52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9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568" u="none" cap="none" strike="noStrike">
                  <a:solidFill>
                    <a:srgbClr val="1E2A3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DZIELNICA</a:t>
              </a:r>
              <a:endParaRPr b="1" sz="13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80" name="Google Shape;180;p18"/>
            <p:cNvSpPr txBox="1"/>
            <p:nvPr/>
          </p:nvSpPr>
          <p:spPr>
            <a:xfrm>
              <a:off x="516126" y="1604693"/>
              <a:ext cx="5280300" cy="194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597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2552" u="none" cap="none" strike="noStrike">
                  <a:solidFill>
                    <a:srgbClr val="1E2A3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Boerum Hill</a:t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marR="0" rtl="0" algn="l">
                <a:lnSpc>
                  <a:spcPct val="13597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2552" u="none" cap="none" strike="noStrike">
                  <a:solidFill>
                    <a:srgbClr val="1E2A3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Schuylerville</a:t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marR="0" rtl="0" algn="l">
                <a:lnSpc>
                  <a:spcPct val="13597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552">
                  <a:solidFill>
                    <a:srgbClr val="1E2A3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Greenwich Village</a:t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81" name="Google Shape;181;p18"/>
            <p:cNvSpPr txBox="1"/>
            <p:nvPr/>
          </p:nvSpPr>
          <p:spPr>
            <a:xfrm>
              <a:off x="5796441" y="800381"/>
              <a:ext cx="2694900" cy="52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9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568" u="none" cap="none" strike="noStrike">
                  <a:solidFill>
                    <a:srgbClr val="1E2A3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PRZYCHÓD</a:t>
              </a:r>
              <a:endParaRPr b="1" sz="13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82" name="Google Shape;182;p18"/>
            <p:cNvSpPr txBox="1"/>
            <p:nvPr/>
          </p:nvSpPr>
          <p:spPr>
            <a:xfrm>
              <a:off x="5796441" y="1604693"/>
              <a:ext cx="2694900" cy="194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597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2552" u="none" cap="none" strike="noStrike">
                  <a:solidFill>
                    <a:srgbClr val="1E2A3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$380 695.00</a:t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marR="0" rtl="0" algn="l">
                <a:lnSpc>
                  <a:spcPct val="13597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2552" u="none" cap="none" strike="noStrike">
                  <a:solidFill>
                    <a:srgbClr val="1E2A3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$363 960.00</a:t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marR="0" rtl="0" algn="l">
                <a:lnSpc>
                  <a:spcPct val="13597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2552" u="none" cap="none" strike="noStrike">
                  <a:solidFill>
                    <a:srgbClr val="1E2A3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$</a:t>
              </a:r>
              <a:r>
                <a:rPr lang="en-US" sz="2552">
                  <a:solidFill>
                    <a:srgbClr val="1E2A3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357 335.00</a:t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83" name="Google Shape;183;p18"/>
            <p:cNvSpPr txBox="1"/>
            <p:nvPr/>
          </p:nvSpPr>
          <p:spPr>
            <a:xfrm>
              <a:off x="0" y="-47625"/>
              <a:ext cx="8994445" cy="6445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999" u="none" cap="none" strike="noStrike">
                  <a:solidFill>
                    <a:srgbClr val="1E2A38"/>
                  </a:solidFill>
                  <a:latin typeface="Open Sans"/>
                  <a:ea typeface="Open Sans"/>
                  <a:cs typeface="Open Sans"/>
                  <a:sym typeface="Open Sans"/>
                </a:rPr>
                <a:t>Pokój współdzielony</a:t>
              </a:r>
              <a:endParaRPr/>
            </a:p>
          </p:txBody>
        </p:sp>
      </p:grpSp>
      <p:grpSp>
        <p:nvGrpSpPr>
          <p:cNvPr id="184" name="Google Shape;184;p18"/>
          <p:cNvGrpSpPr/>
          <p:nvPr/>
        </p:nvGrpSpPr>
        <p:grpSpPr>
          <a:xfrm>
            <a:off x="10513466" y="2532645"/>
            <a:ext cx="6745834" cy="3266926"/>
            <a:chOff x="0" y="-241102"/>
            <a:chExt cx="8994445" cy="4355902"/>
          </a:xfrm>
        </p:grpSpPr>
        <p:grpSp>
          <p:nvGrpSpPr>
            <p:cNvPr id="185" name="Google Shape;185;p18"/>
            <p:cNvGrpSpPr/>
            <p:nvPr/>
          </p:nvGrpSpPr>
          <p:grpSpPr>
            <a:xfrm>
              <a:off x="0" y="-241102"/>
              <a:ext cx="8994445" cy="4355902"/>
              <a:chOff x="0" y="-47625"/>
              <a:chExt cx="1776681" cy="860425"/>
            </a:xfrm>
          </p:grpSpPr>
          <p:sp>
            <p:nvSpPr>
              <p:cNvPr id="186" name="Google Shape;186;p18"/>
              <p:cNvSpPr/>
              <p:nvPr/>
            </p:nvSpPr>
            <p:spPr>
              <a:xfrm>
                <a:off x="0" y="0"/>
                <a:ext cx="1776681" cy="812800"/>
              </a:xfrm>
              <a:custGeom>
                <a:rect b="b" l="l" r="r" t="t"/>
                <a:pathLst>
                  <a:path extrusionOk="0" h="812800" w="1776681">
                    <a:moveTo>
                      <a:pt x="90528" y="0"/>
                    </a:moveTo>
                    <a:lnTo>
                      <a:pt x="1686153" y="0"/>
                    </a:lnTo>
                    <a:cubicBezTo>
                      <a:pt x="1710162" y="0"/>
                      <a:pt x="1733188" y="9538"/>
                      <a:pt x="1750165" y="26515"/>
                    </a:cubicBezTo>
                    <a:cubicBezTo>
                      <a:pt x="1767143" y="43492"/>
                      <a:pt x="1776681" y="66518"/>
                      <a:pt x="1776681" y="90528"/>
                    </a:cubicBezTo>
                    <a:lnTo>
                      <a:pt x="1776681" y="722272"/>
                    </a:lnTo>
                    <a:cubicBezTo>
                      <a:pt x="1776681" y="746282"/>
                      <a:pt x="1767143" y="769308"/>
                      <a:pt x="1750165" y="786285"/>
                    </a:cubicBezTo>
                    <a:cubicBezTo>
                      <a:pt x="1733188" y="803262"/>
                      <a:pt x="1710162" y="812800"/>
                      <a:pt x="1686153" y="812800"/>
                    </a:cubicBezTo>
                    <a:lnTo>
                      <a:pt x="90528" y="812800"/>
                    </a:lnTo>
                    <a:cubicBezTo>
                      <a:pt x="66518" y="812800"/>
                      <a:pt x="43492" y="803262"/>
                      <a:pt x="26515" y="786285"/>
                    </a:cubicBezTo>
                    <a:cubicBezTo>
                      <a:pt x="9538" y="769308"/>
                      <a:pt x="0" y="746282"/>
                      <a:pt x="0" y="722272"/>
                    </a:cubicBezTo>
                    <a:lnTo>
                      <a:pt x="0" y="90528"/>
                    </a:lnTo>
                    <a:cubicBezTo>
                      <a:pt x="0" y="66518"/>
                      <a:pt x="9538" y="43492"/>
                      <a:pt x="26515" y="26515"/>
                    </a:cubicBezTo>
                    <a:cubicBezTo>
                      <a:pt x="43492" y="9538"/>
                      <a:pt x="66518" y="0"/>
                      <a:pt x="9052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8"/>
              <p:cNvSpPr txBox="1"/>
              <p:nvPr/>
            </p:nvSpPr>
            <p:spPr>
              <a:xfrm>
                <a:off x="0" y="-47625"/>
                <a:ext cx="1776681" cy="860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2825" lIns="32825" spcFirstLastPara="1" rIns="32825" wrap="square" tIns="32825">
                <a:noAutofit/>
              </a:bodyPr>
              <a:lstStyle/>
              <a:p>
                <a:pPr indent="0" lvl="0" marL="0" marR="0" rtl="0" algn="ctr">
                  <a:lnSpc>
                    <a:spcPct val="1633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88" name="Google Shape;188;p18"/>
            <p:cNvSpPr txBox="1"/>
            <p:nvPr/>
          </p:nvSpPr>
          <p:spPr>
            <a:xfrm>
              <a:off x="516126" y="800381"/>
              <a:ext cx="5280300" cy="52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9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568" u="none" cap="none" strike="noStrike">
                  <a:solidFill>
                    <a:srgbClr val="1E2A3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DZIELNICA</a:t>
              </a:r>
              <a:endParaRPr b="1" sz="13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89" name="Google Shape;189;p18"/>
            <p:cNvSpPr txBox="1"/>
            <p:nvPr/>
          </p:nvSpPr>
          <p:spPr>
            <a:xfrm>
              <a:off x="516126" y="1604693"/>
              <a:ext cx="5280300" cy="194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597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2552" u="none" cap="none" strike="noStrike">
                  <a:solidFill>
                    <a:srgbClr val="1E2A3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Todt Hill</a:t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marR="0" rtl="0" algn="l">
                <a:lnSpc>
                  <a:spcPct val="13597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2552" u="none" cap="none" strike="noStrike">
                  <a:solidFill>
                    <a:srgbClr val="1E2A3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Silver Lake</a:t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marR="0" rtl="0" algn="l">
                <a:lnSpc>
                  <a:spcPct val="13597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2552" u="none" cap="none" strike="noStrike">
                  <a:solidFill>
                    <a:srgbClr val="1E2A3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Little Neck</a:t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90" name="Google Shape;190;p18"/>
            <p:cNvSpPr txBox="1"/>
            <p:nvPr/>
          </p:nvSpPr>
          <p:spPr>
            <a:xfrm>
              <a:off x="5796441" y="800381"/>
              <a:ext cx="2694900" cy="52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9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568" u="none" cap="none" strike="noStrike">
                  <a:solidFill>
                    <a:srgbClr val="1E2A3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PRZYCHÓD</a:t>
              </a:r>
              <a:endParaRPr b="1" sz="13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91" name="Google Shape;191;p18"/>
            <p:cNvSpPr txBox="1"/>
            <p:nvPr/>
          </p:nvSpPr>
          <p:spPr>
            <a:xfrm>
              <a:off x="5796441" y="1604693"/>
              <a:ext cx="2694900" cy="194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597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2552" u="none" cap="none" strike="noStrike">
                  <a:solidFill>
                    <a:srgbClr val="1E2A3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$320 825.00</a:t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marR="0" rtl="0" algn="l">
                <a:lnSpc>
                  <a:spcPct val="13597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2552" u="none" cap="none" strike="noStrike">
                  <a:solidFill>
                    <a:srgbClr val="1E2A3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$301 490.00</a:t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marR="0" rtl="0" algn="l">
                <a:lnSpc>
                  <a:spcPct val="13597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2552" u="none" cap="none" strike="noStrike">
                  <a:solidFill>
                    <a:srgbClr val="1E2A3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$263 374.24</a:t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92" name="Google Shape;192;p18"/>
            <p:cNvSpPr txBox="1"/>
            <p:nvPr/>
          </p:nvSpPr>
          <p:spPr>
            <a:xfrm>
              <a:off x="0" y="-47625"/>
              <a:ext cx="8994300" cy="64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999" u="none" cap="none" strike="noStrike">
                  <a:solidFill>
                    <a:srgbClr val="1E2A38"/>
                  </a:solidFill>
                  <a:latin typeface="Open Sans"/>
                  <a:ea typeface="Open Sans"/>
                  <a:cs typeface="Open Sans"/>
                  <a:sym typeface="Open Sans"/>
                </a:rPr>
                <a:t>Pokój prywatny</a:t>
              </a:r>
              <a:endParaRPr/>
            </a:p>
          </p:txBody>
        </p:sp>
      </p:grpSp>
      <p:grpSp>
        <p:nvGrpSpPr>
          <p:cNvPr id="193" name="Google Shape;193;p18"/>
          <p:cNvGrpSpPr/>
          <p:nvPr/>
        </p:nvGrpSpPr>
        <p:grpSpPr>
          <a:xfrm>
            <a:off x="10513466" y="5990220"/>
            <a:ext cx="6745834" cy="3266926"/>
            <a:chOff x="0" y="-241102"/>
            <a:chExt cx="8994445" cy="4355902"/>
          </a:xfrm>
        </p:grpSpPr>
        <p:grpSp>
          <p:nvGrpSpPr>
            <p:cNvPr id="194" name="Google Shape;194;p18"/>
            <p:cNvGrpSpPr/>
            <p:nvPr/>
          </p:nvGrpSpPr>
          <p:grpSpPr>
            <a:xfrm>
              <a:off x="0" y="-241102"/>
              <a:ext cx="8994445" cy="4355902"/>
              <a:chOff x="0" y="-47625"/>
              <a:chExt cx="1776681" cy="860425"/>
            </a:xfrm>
          </p:grpSpPr>
          <p:sp>
            <p:nvSpPr>
              <p:cNvPr id="195" name="Google Shape;195;p18"/>
              <p:cNvSpPr/>
              <p:nvPr/>
            </p:nvSpPr>
            <p:spPr>
              <a:xfrm>
                <a:off x="0" y="0"/>
                <a:ext cx="1776681" cy="812800"/>
              </a:xfrm>
              <a:custGeom>
                <a:rect b="b" l="l" r="r" t="t"/>
                <a:pathLst>
                  <a:path extrusionOk="0" h="812800" w="1776681">
                    <a:moveTo>
                      <a:pt x="90528" y="0"/>
                    </a:moveTo>
                    <a:lnTo>
                      <a:pt x="1686153" y="0"/>
                    </a:lnTo>
                    <a:cubicBezTo>
                      <a:pt x="1710162" y="0"/>
                      <a:pt x="1733188" y="9538"/>
                      <a:pt x="1750165" y="26515"/>
                    </a:cubicBezTo>
                    <a:cubicBezTo>
                      <a:pt x="1767143" y="43492"/>
                      <a:pt x="1776681" y="66518"/>
                      <a:pt x="1776681" y="90528"/>
                    </a:cubicBezTo>
                    <a:lnTo>
                      <a:pt x="1776681" y="722272"/>
                    </a:lnTo>
                    <a:cubicBezTo>
                      <a:pt x="1776681" y="746282"/>
                      <a:pt x="1767143" y="769308"/>
                      <a:pt x="1750165" y="786285"/>
                    </a:cubicBezTo>
                    <a:cubicBezTo>
                      <a:pt x="1733188" y="803262"/>
                      <a:pt x="1710162" y="812800"/>
                      <a:pt x="1686153" y="812800"/>
                    </a:cubicBezTo>
                    <a:lnTo>
                      <a:pt x="90528" y="812800"/>
                    </a:lnTo>
                    <a:cubicBezTo>
                      <a:pt x="66518" y="812800"/>
                      <a:pt x="43492" y="803262"/>
                      <a:pt x="26515" y="786285"/>
                    </a:cubicBezTo>
                    <a:cubicBezTo>
                      <a:pt x="9538" y="769308"/>
                      <a:pt x="0" y="746282"/>
                      <a:pt x="0" y="722272"/>
                    </a:cubicBezTo>
                    <a:lnTo>
                      <a:pt x="0" y="90528"/>
                    </a:lnTo>
                    <a:cubicBezTo>
                      <a:pt x="0" y="66518"/>
                      <a:pt x="9538" y="43492"/>
                      <a:pt x="26515" y="26515"/>
                    </a:cubicBezTo>
                    <a:cubicBezTo>
                      <a:pt x="43492" y="9538"/>
                      <a:pt x="66518" y="0"/>
                      <a:pt x="9052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8"/>
              <p:cNvSpPr txBox="1"/>
              <p:nvPr/>
            </p:nvSpPr>
            <p:spPr>
              <a:xfrm>
                <a:off x="0" y="-47625"/>
                <a:ext cx="1776681" cy="860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2825" lIns="32825" spcFirstLastPara="1" rIns="32825" wrap="square" tIns="32825">
                <a:noAutofit/>
              </a:bodyPr>
              <a:lstStyle/>
              <a:p>
                <a:pPr indent="0" lvl="0" marL="0" marR="0" rtl="0" algn="ctr">
                  <a:lnSpc>
                    <a:spcPct val="1633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97" name="Google Shape;197;p18"/>
            <p:cNvSpPr txBox="1"/>
            <p:nvPr/>
          </p:nvSpPr>
          <p:spPr>
            <a:xfrm>
              <a:off x="516126" y="800381"/>
              <a:ext cx="5280300" cy="52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9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568" u="none" cap="none" strike="noStrike">
                  <a:solidFill>
                    <a:srgbClr val="1E2A3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DZIELNICA</a:t>
              </a:r>
              <a:endParaRPr b="1" sz="13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98" name="Google Shape;198;p18"/>
            <p:cNvSpPr txBox="1"/>
            <p:nvPr/>
          </p:nvSpPr>
          <p:spPr>
            <a:xfrm>
              <a:off x="516126" y="1604693"/>
              <a:ext cx="5280300" cy="194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597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2552" u="none" cap="none" strike="noStrike">
                  <a:solidFill>
                    <a:srgbClr val="1E2A3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Roosevelt Island</a:t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marR="0" rtl="0" algn="l">
                <a:lnSpc>
                  <a:spcPct val="13597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2552" u="none" cap="none" strike="noStrike">
                  <a:solidFill>
                    <a:srgbClr val="1E2A3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Williamsburg</a:t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marR="0" rtl="0" algn="l">
                <a:lnSpc>
                  <a:spcPct val="13597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2552" u="none" cap="none" strike="noStrike">
                  <a:solidFill>
                    <a:srgbClr val="1E2A3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SoHo</a:t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99" name="Google Shape;199;p18"/>
            <p:cNvSpPr txBox="1"/>
            <p:nvPr/>
          </p:nvSpPr>
          <p:spPr>
            <a:xfrm>
              <a:off x="5796441" y="800381"/>
              <a:ext cx="2694900" cy="52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9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568" u="none" cap="none" strike="noStrike">
                  <a:solidFill>
                    <a:srgbClr val="1E2A3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PRZYCHÓD</a:t>
              </a:r>
              <a:endParaRPr b="1" sz="13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00" name="Google Shape;200;p18"/>
            <p:cNvSpPr txBox="1"/>
            <p:nvPr/>
          </p:nvSpPr>
          <p:spPr>
            <a:xfrm>
              <a:off x="5796441" y="1604693"/>
              <a:ext cx="2694900" cy="194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597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2552" u="none" cap="none" strike="noStrike">
                  <a:solidFill>
                    <a:srgbClr val="1E2A3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$385 805.00</a:t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marR="0" rtl="0" algn="l">
                <a:lnSpc>
                  <a:spcPct val="13597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2552" u="none" cap="none" strike="noStrike">
                  <a:solidFill>
                    <a:srgbClr val="1E2A3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$232 018.33</a:t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marR="0" rtl="0" algn="l">
                <a:lnSpc>
                  <a:spcPct val="13597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2552" u="none" cap="none" strike="noStrike">
                  <a:solidFill>
                    <a:srgbClr val="1E2A3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$</a:t>
              </a:r>
              <a:r>
                <a:rPr lang="en-US" sz="2552">
                  <a:solidFill>
                    <a:srgbClr val="1E2A3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189 998.18</a:t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01" name="Google Shape;201;p18"/>
            <p:cNvSpPr txBox="1"/>
            <p:nvPr/>
          </p:nvSpPr>
          <p:spPr>
            <a:xfrm>
              <a:off x="0" y="-47625"/>
              <a:ext cx="8994445" cy="6445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999" u="none" cap="none" strike="noStrike">
                  <a:solidFill>
                    <a:srgbClr val="1E2A38"/>
                  </a:solidFill>
                  <a:latin typeface="Open Sans"/>
                  <a:ea typeface="Open Sans"/>
                  <a:cs typeface="Open Sans"/>
                  <a:sym typeface="Open Sans"/>
                </a:rPr>
                <a:t>Pokój hotelowy</a:t>
              </a: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84B63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6" name="Google Shape;206;p19"/>
          <p:cNvCxnSpPr/>
          <p:nvPr/>
        </p:nvCxnSpPr>
        <p:spPr>
          <a:xfrm>
            <a:off x="1028700" y="9633069"/>
            <a:ext cx="16230600" cy="0"/>
          </a:xfrm>
          <a:prstGeom prst="straightConnector1">
            <a:avLst/>
          </a:prstGeom>
          <a:noFill/>
          <a:ln cap="flat" cmpd="sng" w="9525">
            <a:solidFill>
              <a:srgbClr val="F1F4F8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07" name="Google Shape;207;p19"/>
          <p:cNvGrpSpPr/>
          <p:nvPr/>
        </p:nvGrpSpPr>
        <p:grpSpPr>
          <a:xfrm>
            <a:off x="1028699" y="2593763"/>
            <a:ext cx="5753444" cy="4364916"/>
            <a:chOff x="0" y="-1"/>
            <a:chExt cx="1515300" cy="1149600"/>
          </a:xfrm>
        </p:grpSpPr>
        <p:sp>
          <p:nvSpPr>
            <p:cNvPr id="208" name="Google Shape;208;p19"/>
            <p:cNvSpPr/>
            <p:nvPr/>
          </p:nvSpPr>
          <p:spPr>
            <a:xfrm>
              <a:off x="0" y="0"/>
              <a:ext cx="1515220" cy="1149563"/>
            </a:xfrm>
            <a:custGeom>
              <a:rect b="b" l="l" r="r" t="t"/>
              <a:pathLst>
                <a:path extrusionOk="0" h="1149563" w="1515220">
                  <a:moveTo>
                    <a:pt x="68630" y="0"/>
                  </a:moveTo>
                  <a:lnTo>
                    <a:pt x="1446589" y="0"/>
                  </a:lnTo>
                  <a:cubicBezTo>
                    <a:pt x="1464791" y="0"/>
                    <a:pt x="1482248" y="7231"/>
                    <a:pt x="1495118" y="20101"/>
                  </a:cubicBezTo>
                  <a:cubicBezTo>
                    <a:pt x="1507989" y="32972"/>
                    <a:pt x="1515220" y="50429"/>
                    <a:pt x="1515220" y="68630"/>
                  </a:cubicBezTo>
                  <a:lnTo>
                    <a:pt x="1515220" y="1080932"/>
                  </a:lnTo>
                  <a:cubicBezTo>
                    <a:pt x="1515220" y="1118836"/>
                    <a:pt x="1484493" y="1149563"/>
                    <a:pt x="1446589" y="1149563"/>
                  </a:cubicBezTo>
                  <a:lnTo>
                    <a:pt x="68630" y="1149563"/>
                  </a:lnTo>
                  <a:cubicBezTo>
                    <a:pt x="50429" y="1149563"/>
                    <a:pt x="32972" y="1142332"/>
                    <a:pt x="20101" y="1129461"/>
                  </a:cubicBezTo>
                  <a:cubicBezTo>
                    <a:pt x="7231" y="1116591"/>
                    <a:pt x="0" y="1099134"/>
                    <a:pt x="0" y="1080932"/>
                  </a:cubicBezTo>
                  <a:lnTo>
                    <a:pt x="0" y="68630"/>
                  </a:lnTo>
                  <a:cubicBezTo>
                    <a:pt x="0" y="30727"/>
                    <a:pt x="30727" y="0"/>
                    <a:pt x="6863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19"/>
            <p:cNvSpPr txBox="1"/>
            <p:nvPr/>
          </p:nvSpPr>
          <p:spPr>
            <a:xfrm>
              <a:off x="0" y="-1"/>
              <a:ext cx="1515300" cy="114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0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399" u="none" cap="none" strike="noStrike">
                  <a:solidFill>
                    <a:srgbClr val="284B63"/>
                  </a:solidFill>
                  <a:latin typeface="Inter"/>
                  <a:ea typeface="Inter"/>
                  <a:cs typeface="Inter"/>
                  <a:sym typeface="Inter"/>
                </a:rPr>
                <a:t>Weryfikacja modelu zysku:</a:t>
              </a:r>
              <a:r>
                <a:rPr b="0" i="0" lang="en-US" sz="1399" u="none" cap="none" strike="noStrike">
                  <a:solidFill>
                    <a:srgbClr val="284B63"/>
                  </a:solidFill>
                  <a:latin typeface="Inter"/>
                  <a:ea typeface="Inter"/>
                  <a:cs typeface="Inter"/>
                  <a:sym typeface="Inter"/>
                </a:rPr>
                <a:t> Analiza potwierdziła, że najwyższa średnia cena za noc nie jest tożsama z najwyższym zyskiem rocznym. Kluczowym czynnikiem kształtującym dochód jest obłożenie w skali roku.</a:t>
              </a:r>
              <a:endParaRPr sz="1200"/>
            </a:p>
            <a:p>
              <a:pPr indent="0" lvl="0" marL="0" marR="0" rtl="0" algn="ctr">
                <a:lnSpc>
                  <a:spcPct val="1360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99" u="none" cap="none" strike="noStrike">
                <a:solidFill>
                  <a:srgbClr val="284B6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ctr">
                <a:lnSpc>
                  <a:spcPct val="1360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399" u="none" cap="none" strike="noStrike">
                  <a:solidFill>
                    <a:srgbClr val="284B63"/>
                  </a:solidFill>
                  <a:latin typeface="Inter"/>
                  <a:ea typeface="Inter"/>
                  <a:cs typeface="Inter"/>
                  <a:sym typeface="Inter"/>
                </a:rPr>
                <a:t>Efektywność lokalizacji:</a:t>
              </a:r>
              <a:r>
                <a:rPr b="0" i="0" lang="en-US" sz="1399" u="none" cap="none" strike="noStrike">
                  <a:solidFill>
                    <a:srgbClr val="284B63"/>
                  </a:solidFill>
                  <a:latin typeface="Inter"/>
                  <a:ea typeface="Inter"/>
                  <a:cs typeface="Inter"/>
                  <a:sym typeface="Inter"/>
                </a:rPr>
                <a:t> Zidentyfikowano konkretne dzielnice, które dzięki optymalnej relacji ceny do popytu generują najwyższy wskaźnik </a:t>
              </a:r>
              <a:r>
                <a:rPr b="1" i="0" lang="en-US" sz="1399" u="none" cap="none" strike="noStrike">
                  <a:solidFill>
                    <a:srgbClr val="284B63"/>
                  </a:solidFill>
                  <a:latin typeface="Inter"/>
                  <a:ea typeface="Inter"/>
                  <a:cs typeface="Inter"/>
                  <a:sym typeface="Inter"/>
                </a:rPr>
                <a:t>Possibility Profit</a:t>
              </a:r>
              <a:r>
                <a:rPr b="0" i="0" lang="en-US" sz="1399" u="none" cap="none" strike="noStrike">
                  <a:solidFill>
                    <a:srgbClr val="284B63"/>
                  </a:solidFill>
                  <a:latin typeface="Inter"/>
                  <a:ea typeface="Inter"/>
                  <a:cs typeface="Inter"/>
                  <a:sym typeface="Inter"/>
                </a:rPr>
                <a:t> dla wybranych typów zabudowy.</a:t>
              </a:r>
              <a:endParaRPr sz="1200"/>
            </a:p>
            <a:p>
              <a:pPr indent="0" lvl="0" marL="0" marR="0" rtl="0" algn="ctr">
                <a:lnSpc>
                  <a:spcPct val="1360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99" u="none" cap="none" strike="noStrike">
                <a:solidFill>
                  <a:srgbClr val="284B6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ctr">
                <a:lnSpc>
                  <a:spcPct val="1360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399" u="none" cap="none" strike="noStrike">
                  <a:solidFill>
                    <a:srgbClr val="284B63"/>
                  </a:solidFill>
                  <a:latin typeface="Inter"/>
                  <a:ea typeface="Inter"/>
                  <a:cs typeface="Inter"/>
                  <a:sym typeface="Inter"/>
                </a:rPr>
                <a:t>Przewaga analityczna:</a:t>
              </a:r>
              <a:r>
                <a:rPr b="0" i="0" lang="en-US" sz="1399" u="none" cap="none" strike="noStrike">
                  <a:solidFill>
                    <a:srgbClr val="284B63"/>
                  </a:solidFill>
                  <a:latin typeface="Inter"/>
                  <a:ea typeface="Inter"/>
                  <a:cs typeface="Inter"/>
                  <a:sym typeface="Inter"/>
                </a:rPr>
                <a:t> Wykorzystanie Modelu Precyzyjnego pozwoliło na wyłonienie liderów przychodu, którzy pozostają niewidoczni przy stosowaniu uproszczonych średnich rynkowych.</a:t>
              </a:r>
              <a:endParaRPr sz="1200"/>
            </a:p>
          </p:txBody>
        </p:sp>
      </p:grpSp>
      <p:sp>
        <p:nvSpPr>
          <p:cNvPr id="210" name="Google Shape;210;p19"/>
          <p:cNvSpPr txBox="1"/>
          <p:nvPr/>
        </p:nvSpPr>
        <p:spPr>
          <a:xfrm>
            <a:off x="1028700" y="723900"/>
            <a:ext cx="16230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6000" u="none" cap="none" strike="noStrike">
                <a:solidFill>
                  <a:srgbClr val="F1F4F8"/>
                </a:solidFill>
                <a:latin typeface="Georgia"/>
                <a:ea typeface="Georgia"/>
                <a:cs typeface="Georgia"/>
                <a:sym typeface="Georgia"/>
              </a:rPr>
              <a:t>Wnioski i rekomendacje</a:t>
            </a:r>
            <a:endParaRPr sz="6000">
              <a:latin typeface="Georgia"/>
              <a:ea typeface="Georgia"/>
              <a:cs typeface="Georgia"/>
              <a:sym typeface="Georgia"/>
            </a:endParaRPr>
          </a:p>
        </p:txBody>
      </p:sp>
      <p:grpSp>
        <p:nvGrpSpPr>
          <p:cNvPr id="211" name="Google Shape;211;p19"/>
          <p:cNvGrpSpPr/>
          <p:nvPr/>
        </p:nvGrpSpPr>
        <p:grpSpPr>
          <a:xfrm>
            <a:off x="11505850" y="2549250"/>
            <a:ext cx="5753443" cy="4364916"/>
            <a:chOff x="-1" y="-1"/>
            <a:chExt cx="1515300" cy="1149600"/>
          </a:xfrm>
        </p:grpSpPr>
        <p:sp>
          <p:nvSpPr>
            <p:cNvPr id="212" name="Google Shape;212;p19"/>
            <p:cNvSpPr/>
            <p:nvPr/>
          </p:nvSpPr>
          <p:spPr>
            <a:xfrm>
              <a:off x="0" y="0"/>
              <a:ext cx="1515220" cy="1149563"/>
            </a:xfrm>
            <a:custGeom>
              <a:rect b="b" l="l" r="r" t="t"/>
              <a:pathLst>
                <a:path extrusionOk="0" h="1149563" w="1515220">
                  <a:moveTo>
                    <a:pt x="68630" y="0"/>
                  </a:moveTo>
                  <a:lnTo>
                    <a:pt x="1446589" y="0"/>
                  </a:lnTo>
                  <a:cubicBezTo>
                    <a:pt x="1464791" y="0"/>
                    <a:pt x="1482248" y="7231"/>
                    <a:pt x="1495118" y="20101"/>
                  </a:cubicBezTo>
                  <a:cubicBezTo>
                    <a:pt x="1507989" y="32972"/>
                    <a:pt x="1515220" y="50429"/>
                    <a:pt x="1515220" y="68630"/>
                  </a:cubicBezTo>
                  <a:lnTo>
                    <a:pt x="1515220" y="1080932"/>
                  </a:lnTo>
                  <a:cubicBezTo>
                    <a:pt x="1515220" y="1118836"/>
                    <a:pt x="1484493" y="1149563"/>
                    <a:pt x="1446589" y="1149563"/>
                  </a:cubicBezTo>
                  <a:lnTo>
                    <a:pt x="68630" y="1149563"/>
                  </a:lnTo>
                  <a:cubicBezTo>
                    <a:pt x="50429" y="1149563"/>
                    <a:pt x="32972" y="1142332"/>
                    <a:pt x="20101" y="1129461"/>
                  </a:cubicBezTo>
                  <a:cubicBezTo>
                    <a:pt x="7231" y="1116591"/>
                    <a:pt x="0" y="1099134"/>
                    <a:pt x="0" y="1080932"/>
                  </a:cubicBezTo>
                  <a:lnTo>
                    <a:pt x="0" y="68630"/>
                  </a:lnTo>
                  <a:cubicBezTo>
                    <a:pt x="0" y="30727"/>
                    <a:pt x="30727" y="0"/>
                    <a:pt x="6863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19"/>
            <p:cNvSpPr txBox="1"/>
            <p:nvPr/>
          </p:nvSpPr>
          <p:spPr>
            <a:xfrm>
              <a:off x="-1" y="-1"/>
              <a:ext cx="1515300" cy="114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0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399" u="none" cap="none" strike="noStrike">
                  <a:solidFill>
                    <a:srgbClr val="284B63"/>
                  </a:solidFill>
                  <a:latin typeface="Inter"/>
                  <a:ea typeface="Inter"/>
                  <a:cs typeface="Inter"/>
                  <a:sym typeface="Inter"/>
                </a:rPr>
                <a:t>Dopasowanie: </a:t>
              </a:r>
              <a:r>
                <a:rPr b="0" i="0" lang="en-US" sz="1399" u="none" cap="none" strike="noStrike">
                  <a:solidFill>
                    <a:srgbClr val="284B63"/>
                  </a:solidFill>
                  <a:latin typeface="Inter"/>
                  <a:ea typeface="Inter"/>
                  <a:cs typeface="Inter"/>
                  <a:sym typeface="Inter"/>
                </a:rPr>
                <a:t>Wybór typu nieruchomości w oparciu o najwyższą rentowność w danej kategorii.</a:t>
              </a:r>
              <a:endParaRPr sz="1200"/>
            </a:p>
            <a:p>
              <a:pPr indent="0" lvl="0" marL="0" marR="0" rtl="0" algn="ctr">
                <a:lnSpc>
                  <a:spcPct val="1360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99" u="none" cap="none" strike="noStrike">
                <a:solidFill>
                  <a:srgbClr val="284B6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ctr">
                <a:lnSpc>
                  <a:spcPct val="1360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399" u="none" cap="none" strike="noStrike">
                  <a:solidFill>
                    <a:srgbClr val="284B63"/>
                  </a:solidFill>
                  <a:latin typeface="Inter"/>
                  <a:ea typeface="Inter"/>
                  <a:cs typeface="Inter"/>
                  <a:sym typeface="Inter"/>
                </a:rPr>
                <a:t>Lokalizacja:</a:t>
              </a:r>
              <a:r>
                <a:rPr b="0" i="0" lang="en-US" sz="1399" u="none" cap="none" strike="noStrike">
                  <a:solidFill>
                    <a:srgbClr val="284B63"/>
                  </a:solidFill>
                  <a:latin typeface="Inter"/>
                  <a:ea typeface="Inter"/>
                  <a:cs typeface="Inter"/>
                  <a:sym typeface="Inter"/>
                </a:rPr>
                <a:t> Skupienie poszukiwań obiektu wyłącznie w dzielnicach wskazanych jako liderzy danego segmentu.</a:t>
              </a:r>
              <a:endParaRPr sz="1200"/>
            </a:p>
            <a:p>
              <a:pPr indent="0" lvl="0" marL="0" marR="0" rtl="0" algn="ctr">
                <a:lnSpc>
                  <a:spcPct val="1360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99" u="none" cap="none" strike="noStrike">
                <a:solidFill>
                  <a:srgbClr val="284B6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ctr">
                <a:lnSpc>
                  <a:spcPct val="1360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399" u="none" cap="none" strike="noStrike">
                  <a:solidFill>
                    <a:srgbClr val="284B63"/>
                  </a:solidFill>
                  <a:latin typeface="Inter"/>
                  <a:ea typeface="Inter"/>
                  <a:cs typeface="Inter"/>
                  <a:sym typeface="Inter"/>
                </a:rPr>
                <a:t>Monitorowanie: </a:t>
              </a:r>
              <a:r>
                <a:rPr b="0" i="0" lang="en-US" sz="1399" u="none" cap="none" strike="noStrike">
                  <a:solidFill>
                    <a:srgbClr val="284B63"/>
                  </a:solidFill>
                  <a:latin typeface="Inter"/>
                  <a:ea typeface="Inter"/>
                  <a:cs typeface="Inter"/>
                  <a:sym typeface="Inter"/>
                </a:rPr>
                <a:t>Wykorzystanie interaktywnego dashboardu do analizy bieżących trendów cenowych i poziomu obłożenia w wybranej dzielnicy.</a:t>
              </a:r>
              <a:endParaRPr sz="1200"/>
            </a:p>
          </p:txBody>
        </p:sp>
      </p:grpSp>
      <p:grpSp>
        <p:nvGrpSpPr>
          <p:cNvPr id="214" name="Google Shape;214;p19"/>
          <p:cNvGrpSpPr/>
          <p:nvPr/>
        </p:nvGrpSpPr>
        <p:grpSpPr>
          <a:xfrm>
            <a:off x="6267275" y="8350325"/>
            <a:ext cx="5753443" cy="794447"/>
            <a:chOff x="0" y="-4579"/>
            <a:chExt cx="1515300" cy="235895"/>
          </a:xfrm>
        </p:grpSpPr>
        <p:sp>
          <p:nvSpPr>
            <p:cNvPr id="215" name="Google Shape;215;p19"/>
            <p:cNvSpPr/>
            <p:nvPr/>
          </p:nvSpPr>
          <p:spPr>
            <a:xfrm>
              <a:off x="0" y="0"/>
              <a:ext cx="1515220" cy="231316"/>
            </a:xfrm>
            <a:custGeom>
              <a:rect b="b" l="l" r="r" t="t"/>
              <a:pathLst>
                <a:path extrusionOk="0" h="231316" w="1515220">
                  <a:moveTo>
                    <a:pt x="68630" y="0"/>
                  </a:moveTo>
                  <a:lnTo>
                    <a:pt x="1446589" y="0"/>
                  </a:lnTo>
                  <a:cubicBezTo>
                    <a:pt x="1464791" y="0"/>
                    <a:pt x="1482248" y="7231"/>
                    <a:pt x="1495118" y="20101"/>
                  </a:cubicBezTo>
                  <a:cubicBezTo>
                    <a:pt x="1507989" y="32972"/>
                    <a:pt x="1515220" y="50429"/>
                    <a:pt x="1515220" y="68630"/>
                  </a:cubicBezTo>
                  <a:lnTo>
                    <a:pt x="1515220" y="162685"/>
                  </a:lnTo>
                  <a:cubicBezTo>
                    <a:pt x="1515220" y="200589"/>
                    <a:pt x="1484493" y="231316"/>
                    <a:pt x="1446589" y="231316"/>
                  </a:cubicBezTo>
                  <a:lnTo>
                    <a:pt x="68630" y="231316"/>
                  </a:lnTo>
                  <a:cubicBezTo>
                    <a:pt x="50429" y="231316"/>
                    <a:pt x="32972" y="224085"/>
                    <a:pt x="20101" y="211214"/>
                  </a:cubicBezTo>
                  <a:cubicBezTo>
                    <a:pt x="7231" y="198343"/>
                    <a:pt x="0" y="180887"/>
                    <a:pt x="0" y="162685"/>
                  </a:cubicBezTo>
                  <a:lnTo>
                    <a:pt x="0" y="68630"/>
                  </a:lnTo>
                  <a:cubicBezTo>
                    <a:pt x="0" y="30727"/>
                    <a:pt x="30727" y="0"/>
                    <a:pt x="6863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19"/>
            <p:cNvSpPr txBox="1"/>
            <p:nvPr/>
          </p:nvSpPr>
          <p:spPr>
            <a:xfrm>
              <a:off x="0" y="-4579"/>
              <a:ext cx="1515300" cy="23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99" u="sng" cap="none" strike="noStrike">
                  <a:solidFill>
                    <a:srgbClr val="284B63"/>
                  </a:solidFill>
                  <a:latin typeface="Inter"/>
                  <a:ea typeface="Inter"/>
                  <a:cs typeface="Inter"/>
                  <a:sym typeface="Inter"/>
                  <a:hlinkClick r:id="rId3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Link do Dashboardu: Analiza Rynkowa Nowego Jorku</a:t>
              </a:r>
              <a:endParaRPr sz="1200">
                <a:solidFill>
                  <a:srgbClr val="284B63"/>
                </a:solidFill>
              </a:endParaRPr>
            </a:p>
          </p:txBody>
        </p:sp>
      </p:grpSp>
      <p:sp>
        <p:nvSpPr>
          <p:cNvPr id="217" name="Google Shape;217;p19"/>
          <p:cNvSpPr txBox="1"/>
          <p:nvPr/>
        </p:nvSpPr>
        <p:spPr>
          <a:xfrm>
            <a:off x="3783899" y="7341701"/>
            <a:ext cx="10720200" cy="5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1F4F8"/>
                </a:solidFill>
                <a:latin typeface="Inter"/>
                <a:ea typeface="Inter"/>
                <a:cs typeface="Inter"/>
                <a:sym typeface="Inter"/>
              </a:rPr>
              <a:t>Interaktywny Dashboard Tableau:</a:t>
            </a:r>
            <a:r>
              <a:rPr b="0" i="0" lang="en-US" sz="1600" u="none" cap="none" strike="noStrike">
                <a:solidFill>
                  <a:srgbClr val="F1F4F8"/>
                </a:solidFill>
                <a:latin typeface="Inter"/>
                <a:ea typeface="Inter"/>
                <a:cs typeface="Inter"/>
                <a:sym typeface="Inter"/>
              </a:rPr>
              <a:t> Poniższy link prowadzi do pełnego zestawienia danych, umożliwiając samodzielne filtrowanie wyników według dzielnic, typów obiektów oraz wskaźników dostępności.</a:t>
            </a:r>
            <a:endParaRPr sz="1200"/>
          </a:p>
        </p:txBody>
      </p:sp>
      <p:sp>
        <p:nvSpPr>
          <p:cNvPr id="218" name="Google Shape;218;p19"/>
          <p:cNvSpPr txBox="1"/>
          <p:nvPr/>
        </p:nvSpPr>
        <p:spPr>
          <a:xfrm>
            <a:off x="2809230" y="1947289"/>
            <a:ext cx="21924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59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252" u="none" cap="none" strike="noStrike">
                <a:solidFill>
                  <a:srgbClr val="F1F4F8"/>
                </a:solidFill>
                <a:latin typeface="Georgia"/>
                <a:ea typeface="Georgia"/>
                <a:cs typeface="Georgia"/>
                <a:sym typeface="Georgia"/>
              </a:rPr>
              <a:t>Główne wnioski:</a:t>
            </a:r>
            <a:endParaRPr sz="11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19" name="Google Shape;219;p19"/>
          <p:cNvSpPr txBox="1"/>
          <p:nvPr/>
        </p:nvSpPr>
        <p:spPr>
          <a:xfrm>
            <a:off x="12223776" y="1925026"/>
            <a:ext cx="43176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59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252" u="none" cap="none" strike="noStrike">
                <a:solidFill>
                  <a:srgbClr val="F1F4F8"/>
                </a:solidFill>
                <a:latin typeface="Georgia"/>
                <a:ea typeface="Georgia"/>
                <a:cs typeface="Georgia"/>
                <a:sym typeface="Georgia"/>
              </a:rPr>
              <a:t>Rekomendowany Plan Działania:</a:t>
            </a:r>
            <a:endParaRPr sz="1100"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A38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0"/>
          <p:cNvSpPr/>
          <p:nvPr/>
        </p:nvSpPr>
        <p:spPr>
          <a:xfrm>
            <a:off x="8991600" y="1562100"/>
            <a:ext cx="8629650" cy="8724900"/>
          </a:xfrm>
          <a:custGeom>
            <a:rect b="b" l="l" r="r" t="t"/>
            <a:pathLst>
              <a:path extrusionOk="0" h="2509537" w="2482140">
                <a:moveTo>
                  <a:pt x="0" y="0"/>
                </a:moveTo>
                <a:lnTo>
                  <a:pt x="2482140" y="0"/>
                </a:lnTo>
                <a:lnTo>
                  <a:pt x="2482140" y="2509537"/>
                </a:lnTo>
                <a:lnTo>
                  <a:pt x="0" y="2509537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79" l="0" r="0" t="-79"/>
            </a:stretch>
          </a:blipFill>
          <a:ln>
            <a:noFill/>
          </a:ln>
        </p:spPr>
      </p:sp>
      <p:sp>
        <p:nvSpPr>
          <p:cNvPr id="225" name="Google Shape;225;p20"/>
          <p:cNvSpPr txBox="1"/>
          <p:nvPr/>
        </p:nvSpPr>
        <p:spPr>
          <a:xfrm>
            <a:off x="666750" y="4713605"/>
            <a:ext cx="6886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6000" u="none" cap="none" strike="noStrike">
                <a:solidFill>
                  <a:srgbClr val="F1F4F8"/>
                </a:solidFill>
                <a:latin typeface="Georgia"/>
                <a:ea typeface="Georgia"/>
                <a:cs typeface="Georgia"/>
                <a:sym typeface="Georgia"/>
              </a:rPr>
              <a:t>Dziękuję za uwagę!</a:t>
            </a:r>
            <a:endParaRPr sz="12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26" name="Google Shape;226;p20"/>
          <p:cNvSpPr txBox="1"/>
          <p:nvPr/>
        </p:nvSpPr>
        <p:spPr>
          <a:xfrm>
            <a:off x="666750" y="8900309"/>
            <a:ext cx="5448300" cy="737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1F4F8"/>
                </a:solidFill>
                <a:latin typeface="Inter"/>
                <a:ea typeface="Inter"/>
                <a:cs typeface="Inter"/>
                <a:sym typeface="Inter"/>
              </a:rPr>
              <a:t>Przygotował: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1F4F8"/>
                </a:solidFill>
                <a:latin typeface="Inter"/>
                <a:ea typeface="Inter"/>
                <a:cs typeface="Inter"/>
                <a:sym typeface="Inter"/>
              </a:rPr>
              <a:t>Jakub Motyka</a:t>
            </a:r>
            <a:endParaRPr/>
          </a:p>
        </p:txBody>
      </p:sp>
      <p:cxnSp>
        <p:nvCxnSpPr>
          <p:cNvPr id="227" name="Google Shape;227;p20"/>
          <p:cNvCxnSpPr/>
          <p:nvPr/>
        </p:nvCxnSpPr>
        <p:spPr>
          <a:xfrm>
            <a:off x="666750" y="1263650"/>
            <a:ext cx="16954500" cy="0"/>
          </a:xfrm>
          <a:prstGeom prst="straightConnector1">
            <a:avLst/>
          </a:prstGeom>
          <a:noFill/>
          <a:ln cap="flat" cmpd="sng" w="9525">
            <a:solidFill>
              <a:srgbClr val="F1F4F8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